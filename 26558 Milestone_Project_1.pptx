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10.fntdata" ContentType="application/x-fontdata"/>
  <Override PartName="/ppt/fonts/font11.fntdata" ContentType="application/x-fontdata"/>
  <Override PartName="/ppt/fonts/font12.fntdata" ContentType="application/x-fontdata"/>
  <Override PartName="/ppt/fonts/font13.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fonts/font9.fntdata" ContentType="application/x-fontdata"/>
  <Override PartName="/ppt/media/image3.svg" ContentType="image/svg+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3"/>
    <p:sldId id="257" r:id="rId4"/>
    <p:sldId id="258" r:id="rId5"/>
    <p:sldId id="259" r:id="rId6"/>
    <p:sldId id="260" r:id="rId7"/>
    <p:sldId id="261" r:id="rId8"/>
    <p:sldId id="262" r:id="rId9"/>
    <p:sldId id="263" r:id="rId10"/>
    <p:sldId id="264" r:id="rId11"/>
    <p:sldId id="266" r:id="rId12"/>
    <p:sldId id="269" r:id="rId13"/>
    <p:sldId id="267" r:id="rId14"/>
    <p:sldId id="270" r:id="rId15"/>
    <p:sldId id="265" r:id="rId16"/>
  </p:sldIdLst>
  <p:sldSz cx="18288000" cy="10287000"/>
  <p:notesSz cx="6858000" cy="9144000"/>
  <p:embeddedFontLst>
    <p:embeddedFont>
      <p:font typeface="Cambria" panose="02040503050406030204" pitchFamily="18" charset="0"/>
      <p:regular r:id="rId20"/>
      <p:bold r:id="rId21"/>
      <p:italic r:id="rId22"/>
      <p:boldItalic r:id="rId23"/>
    </p:embeddedFont>
    <p:embeddedFont>
      <p:font typeface="Bookman Old Style" panose="02050604050505020204" pitchFamily="18" charset="0"/>
      <p:regular r:id="rId24"/>
      <p:bold r:id="rId25"/>
      <p:italic r:id="rId26"/>
    </p:embeddedFont>
    <p:embeddedFont>
      <p:font typeface="Gotham"/>
      <p:regular r:id="rId27"/>
    </p:embeddedFont>
    <p:embeddedFont>
      <p:font typeface="Gotham Bold Italics" panose="02000000000000000000"/>
      <p:boldItalic r:id="rId28"/>
    </p:embeddedFont>
    <p:embeddedFont>
      <p:font typeface="Calibri" panose="020F0502020204030204" charset="0"/>
      <p:regular r:id="rId29"/>
      <p:bold r:id="rId30"/>
      <p:italic r:id="rId31"/>
      <p:boldItalic r:id="rId3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showGuides="1">
      <p:cViewPr varScale="1">
        <p:scale>
          <a:sx n="51" d="100"/>
          <a:sy n="51" d="100"/>
        </p:scale>
        <p:origin x="898" y="53"/>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2" Type="http://schemas.openxmlformats.org/officeDocument/2006/relationships/font" Target="fonts/font13.fntdata"/><Relationship Id="rId31" Type="http://schemas.openxmlformats.org/officeDocument/2006/relationships/font" Target="fonts/font12.fntdata"/><Relationship Id="rId30" Type="http://schemas.openxmlformats.org/officeDocument/2006/relationships/font" Target="fonts/font11.fntdata"/><Relationship Id="rId3" Type="http://schemas.openxmlformats.org/officeDocument/2006/relationships/slide" Target="slides/slide1.xml"/><Relationship Id="rId29" Type="http://schemas.openxmlformats.org/officeDocument/2006/relationships/font" Target="fonts/font10.fntdata"/><Relationship Id="rId28" Type="http://schemas.openxmlformats.org/officeDocument/2006/relationships/font" Target="fonts/font9.fntdata"/><Relationship Id="rId27" Type="http://schemas.openxmlformats.org/officeDocument/2006/relationships/font" Target="fonts/font8.fntdata"/><Relationship Id="rId26" Type="http://schemas.openxmlformats.org/officeDocument/2006/relationships/font" Target="fonts/font7.fntdata"/><Relationship Id="rId25" Type="http://schemas.openxmlformats.org/officeDocument/2006/relationships/font" Target="fonts/font6.fntdata"/><Relationship Id="rId24" Type="http://schemas.openxmlformats.org/officeDocument/2006/relationships/font" Target="fonts/font5.fntdata"/><Relationship Id="rId23" Type="http://schemas.openxmlformats.org/officeDocument/2006/relationships/font" Target="fonts/font4.fntdata"/><Relationship Id="rId22" Type="http://schemas.openxmlformats.org/officeDocument/2006/relationships/font" Target="fonts/font3.fntdata"/><Relationship Id="rId21" Type="http://schemas.openxmlformats.org/officeDocument/2006/relationships/font" Target="fonts/font2.fntdata"/><Relationship Id="rId20" Type="http://schemas.openxmlformats.org/officeDocument/2006/relationships/font" Target="fonts/font1.fntdata"/><Relationship Id="rId2" Type="http://schemas.openxmlformats.org/officeDocument/2006/relationships/theme" Target="theme/theme1.xml"/><Relationship Id="rId19" Type="http://schemas.openxmlformats.org/officeDocument/2006/relationships/tableStyles" Target="tableStyles.xml"/><Relationship Id="rId18" Type="http://schemas.openxmlformats.org/officeDocument/2006/relationships/viewProps" Target="viewProps.xml"/><Relationship Id="rId17" Type="http://schemas.openxmlformats.org/officeDocument/2006/relationships/presProps" Target="presProps.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3.svg"/><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3.svg"/><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3.svg"/><Relationship Id="rId1"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3.svg"/><Relationship Id="rId1" Type="http://schemas.openxmlformats.org/officeDocument/2006/relationships/image" Target="../media/image2.png"/></Relationships>
</file>

<file path=ppt/slides/_rels/slide6.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4.png"/><Relationship Id="rId2" Type="http://schemas.openxmlformats.org/officeDocument/2006/relationships/image" Target="../media/image3.svg"/><Relationship Id="rId1" Type="http://schemas.openxmlformats.org/officeDocument/2006/relationships/image" Target="../media/image2.png"/></Relationships>
</file>

<file path=ppt/slides/_rels/slide7.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5.png"/><Relationship Id="rId2" Type="http://schemas.openxmlformats.org/officeDocument/2006/relationships/image" Target="../media/image3.svg"/><Relationship Id="rId1"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3.svg"/><Relationship Id="rId1"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3.svg"/><Relationship Id="rId1" Type="http://schemas.openxmlformats.org/officeDocument/2006/relationships/image" Target="../media/image2.png"/></Relationships>
</file>

<file path=ppt/slides/_rels/slide10.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6.png"/><Relationship Id="rId2" Type="http://schemas.openxmlformats.org/officeDocument/2006/relationships/image" Target="../media/image3.svg"/><Relationship Id="rId1" Type="http://schemas.openxmlformats.org/officeDocument/2006/relationships/image" Target="../media/image2.png"/></Relationships>
</file>

<file path=ppt/slides/_rels/slide11.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7.png"/><Relationship Id="rId2" Type="http://schemas.openxmlformats.org/officeDocument/2006/relationships/image" Target="../media/image3.svg"/><Relationship Id="rId1" Type="http://schemas.openxmlformats.org/officeDocument/2006/relationships/image" Target="../media/image2.png"/></Relationships>
</file>

<file path=ppt/slides/_rels/slide12.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8.png"/><Relationship Id="rId2" Type="http://schemas.openxmlformats.org/officeDocument/2006/relationships/image" Target="../media/image3.svg"/><Relationship Id="rId1"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3.svg"/><Relationship Id="rId1"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3.svg"/><Relationship Id="rId1"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0" name="Group 10"/>
          <p:cNvGrpSpPr/>
          <p:nvPr/>
        </p:nvGrpSpPr>
        <p:grpSpPr>
          <a:xfrm>
            <a:off x="11762088" y="-9632634"/>
            <a:ext cx="10994424" cy="10994424"/>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12" name="TextBox 12"/>
            <p:cNvSpPr txBox="1"/>
            <p:nvPr/>
          </p:nvSpPr>
          <p:spPr>
            <a:xfrm>
              <a:off x="76200" y="47625"/>
              <a:ext cx="660400" cy="688975"/>
            </a:xfrm>
            <a:prstGeom prst="rect">
              <a:avLst/>
            </a:prstGeom>
          </p:spPr>
          <p:txBody>
            <a:bodyPr lIns="50800" tIns="50800" rIns="50800" bIns="50800" rtlCol="0" anchor="ctr"/>
            <a:lstStyle/>
            <a:p>
              <a:pPr algn="ctr">
                <a:lnSpc>
                  <a:spcPts val="2660"/>
                </a:lnSpc>
              </a:pPr>
            </a:p>
          </p:txBody>
        </p:sp>
      </p:grpSp>
      <p:grpSp>
        <p:nvGrpSpPr>
          <p:cNvPr id="19" name="Group 19"/>
          <p:cNvGrpSpPr/>
          <p:nvPr/>
        </p:nvGrpSpPr>
        <p:grpSpPr>
          <a:xfrm>
            <a:off x="-9965724" y="-1383136"/>
            <a:ext cx="10994424" cy="10994424"/>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21" name="TextBox 21"/>
            <p:cNvSpPr txBox="1"/>
            <p:nvPr/>
          </p:nvSpPr>
          <p:spPr>
            <a:xfrm>
              <a:off x="76200" y="47625"/>
              <a:ext cx="660400" cy="688975"/>
            </a:xfrm>
            <a:prstGeom prst="rect">
              <a:avLst/>
            </a:prstGeom>
          </p:spPr>
          <p:txBody>
            <a:bodyPr lIns="50800" tIns="50800" rIns="50800" bIns="50800" rtlCol="0" anchor="ctr"/>
            <a:lstStyle/>
            <a:p>
              <a:pPr algn="ctr">
                <a:lnSpc>
                  <a:spcPts val="2660"/>
                </a:lnSpc>
              </a:pPr>
            </a:p>
          </p:txBody>
        </p:sp>
      </p:grpSp>
      <p:pic>
        <p:nvPicPr>
          <p:cNvPr id="23" name="Picture 22"/>
          <p:cNvPicPr>
            <a:picLocks noChangeAspect="1"/>
          </p:cNvPicPr>
          <p:nvPr/>
        </p:nvPicPr>
        <p:blipFill>
          <a:blip r:embed="rId1"/>
          <a:stretch>
            <a:fillRect/>
          </a:stretch>
        </p:blipFill>
        <p:spPr>
          <a:xfrm>
            <a:off x="6610443" y="196689"/>
            <a:ext cx="4752247" cy="1360611"/>
          </a:xfrm>
          <a:prstGeom prst="rect">
            <a:avLst/>
          </a:prstGeom>
        </p:spPr>
      </p:pic>
      <p:sp>
        <p:nvSpPr>
          <p:cNvPr id="24" name="TextBox 23"/>
          <p:cNvSpPr txBox="1"/>
          <p:nvPr/>
        </p:nvSpPr>
        <p:spPr>
          <a:xfrm>
            <a:off x="1360002" y="1608482"/>
            <a:ext cx="15925800" cy="1631216"/>
          </a:xfrm>
          <a:prstGeom prst="rect">
            <a:avLst/>
          </a:prstGeom>
          <a:noFill/>
        </p:spPr>
        <p:txBody>
          <a:bodyPr wrap="square" rtlCol="0">
            <a:spAutoFit/>
          </a:bodyPr>
          <a:lstStyle/>
          <a:p>
            <a:pPr algn="ctr"/>
            <a:r>
              <a:rPr lang="en-US" sz="3200" b="1" dirty="0">
                <a:latin typeface="Cambria" panose="02040503050406030204" pitchFamily="18" charset="0"/>
                <a:ea typeface="Cambria" panose="02040503050406030204" pitchFamily="18" charset="0"/>
              </a:rPr>
              <a:t>Vel Tech Rangarajan Dr. Sagunthala R&amp;D Institute of Science and Technology</a:t>
            </a:r>
            <a:endParaRPr lang="en-US" sz="3200" b="1" dirty="0">
              <a:latin typeface="Cambria" panose="02040503050406030204" pitchFamily="18" charset="0"/>
              <a:ea typeface="Cambria" panose="02040503050406030204" pitchFamily="18" charset="0"/>
            </a:endParaRPr>
          </a:p>
          <a:p>
            <a:pPr algn="ctr"/>
            <a:r>
              <a:rPr lang="en-US" sz="3600" b="1" dirty="0">
                <a:latin typeface="Cambria" panose="02040503050406030204" pitchFamily="18" charset="0"/>
                <a:ea typeface="Cambria" panose="02040503050406030204" pitchFamily="18" charset="0"/>
              </a:rPr>
              <a:t>School of Computing </a:t>
            </a:r>
            <a:endParaRPr lang="en-US" sz="3600" b="1" dirty="0">
              <a:latin typeface="Cambria" panose="02040503050406030204" pitchFamily="18" charset="0"/>
              <a:ea typeface="Cambria" panose="02040503050406030204" pitchFamily="18" charset="0"/>
            </a:endParaRPr>
          </a:p>
          <a:p>
            <a:pPr algn="ctr"/>
            <a:r>
              <a:rPr lang="en-US" sz="3200" b="1" dirty="0">
                <a:latin typeface="Cambria" panose="02040503050406030204" pitchFamily="18" charset="0"/>
                <a:ea typeface="Cambria" panose="02040503050406030204" pitchFamily="18" charset="0"/>
              </a:rPr>
              <a:t>Department of Computer Science and Engineering</a:t>
            </a:r>
            <a:endParaRPr lang="en-IN" sz="3200" b="1" dirty="0">
              <a:latin typeface="Cambria" panose="02040503050406030204" pitchFamily="18" charset="0"/>
              <a:ea typeface="Cambria" panose="02040503050406030204" pitchFamily="18" charset="0"/>
            </a:endParaRPr>
          </a:p>
        </p:txBody>
      </p:sp>
      <p:sp>
        <p:nvSpPr>
          <p:cNvPr id="26" name="TextBox 25"/>
          <p:cNvSpPr txBox="1"/>
          <p:nvPr/>
        </p:nvSpPr>
        <p:spPr>
          <a:xfrm>
            <a:off x="1692835" y="3272357"/>
            <a:ext cx="15260135" cy="523220"/>
          </a:xfrm>
          <a:prstGeom prst="rect">
            <a:avLst/>
          </a:prstGeom>
          <a:noFill/>
        </p:spPr>
        <p:txBody>
          <a:bodyPr wrap="square">
            <a:spAutoFit/>
          </a:bodyPr>
          <a:lstStyle/>
          <a:p>
            <a:pPr algn="ctr"/>
            <a:r>
              <a:rPr lang="en-US" sz="2800" b="1" dirty="0">
                <a:solidFill>
                  <a:srgbClr val="0033CC"/>
                </a:solidFill>
                <a:latin typeface="Bookman Old Style" panose="02050604050505020204" pitchFamily="18" charset="0"/>
              </a:rPr>
              <a:t>10211CS224 / FULL STACK APPLICATION DEVELOPMENT (JAVA)</a:t>
            </a:r>
            <a:endParaRPr lang="en-IN" sz="2800" b="1" dirty="0">
              <a:solidFill>
                <a:srgbClr val="0033CC"/>
              </a:solidFill>
              <a:latin typeface="Bookman Old Style" panose="02050604050505020204" pitchFamily="18" charset="0"/>
            </a:endParaRPr>
          </a:p>
        </p:txBody>
      </p:sp>
      <p:sp>
        <p:nvSpPr>
          <p:cNvPr id="27" name="TextBox 26"/>
          <p:cNvSpPr txBox="1"/>
          <p:nvPr/>
        </p:nvSpPr>
        <p:spPr>
          <a:xfrm>
            <a:off x="3727757" y="3897940"/>
            <a:ext cx="11190289" cy="1754326"/>
          </a:xfrm>
          <a:prstGeom prst="rect">
            <a:avLst/>
          </a:prstGeom>
          <a:noFill/>
        </p:spPr>
        <p:txBody>
          <a:bodyPr wrap="square" rtlCol="0">
            <a:spAutoFit/>
          </a:bodyPr>
          <a:lstStyle/>
          <a:p>
            <a:pPr algn="ctr"/>
            <a:r>
              <a:rPr lang="en-IN" sz="3600" b="1" dirty="0">
                <a:solidFill>
                  <a:srgbClr val="C00000"/>
                </a:solidFill>
                <a:latin typeface="Arial" panose="020B0604020202020204" pitchFamily="34" charset="0"/>
                <a:cs typeface="Arial" panose="020B0604020202020204" pitchFamily="34" charset="0"/>
              </a:rPr>
              <a:t>PROJECT REVIEW : MILESTONE PROJECT – 2</a:t>
            </a:r>
            <a:endParaRPr lang="en-IN" sz="3600" b="1" dirty="0">
              <a:solidFill>
                <a:srgbClr val="C00000"/>
              </a:solidFill>
              <a:latin typeface="Arial" panose="020B0604020202020204" pitchFamily="34" charset="0"/>
              <a:cs typeface="Arial" panose="020B0604020202020204" pitchFamily="34" charset="0"/>
            </a:endParaRPr>
          </a:p>
          <a:p>
            <a:pPr algn="ctr"/>
            <a:endParaRPr lang="en-IN" sz="3600" b="1" dirty="0">
              <a:solidFill>
                <a:srgbClr val="C00000"/>
              </a:solidFill>
              <a:latin typeface="Arial" panose="020B0604020202020204" pitchFamily="34" charset="0"/>
              <a:cs typeface="Arial" panose="020B0604020202020204" pitchFamily="34" charset="0"/>
            </a:endParaRPr>
          </a:p>
          <a:p>
            <a:pPr algn="ctr"/>
            <a:r>
              <a:rPr lang="en-IN" sz="3600" b="1" dirty="0">
                <a:solidFill>
                  <a:srgbClr val="C00000"/>
                </a:solidFill>
                <a:latin typeface="Arial" panose="020B0604020202020204" pitchFamily="34" charset="0"/>
                <a:cs typeface="Arial" panose="020B0604020202020204" pitchFamily="34" charset="0"/>
              </a:rPr>
              <a:t>Date: 20-04-2026</a:t>
            </a:r>
            <a:endParaRPr lang="en-IN" sz="3600" b="1" dirty="0">
              <a:solidFill>
                <a:srgbClr val="C00000"/>
              </a:solidFill>
              <a:latin typeface="Arial" panose="020B0604020202020204" pitchFamily="34" charset="0"/>
              <a:cs typeface="Arial" panose="020B0604020202020204" pitchFamily="34" charset="0"/>
            </a:endParaRPr>
          </a:p>
        </p:txBody>
      </p:sp>
      <p:sp>
        <p:nvSpPr>
          <p:cNvPr id="13" name="TextBox 12"/>
          <p:cNvSpPr txBox="1"/>
          <p:nvPr/>
        </p:nvSpPr>
        <p:spPr>
          <a:xfrm>
            <a:off x="1501640" y="6057900"/>
            <a:ext cx="15784162" cy="584775"/>
          </a:xfrm>
          <a:prstGeom prst="rect">
            <a:avLst/>
          </a:prstGeom>
          <a:noFill/>
        </p:spPr>
        <p:txBody>
          <a:bodyPr wrap="square" rtlCol="0">
            <a:spAutoFit/>
          </a:bodyPr>
          <a:lstStyle/>
          <a:p>
            <a:pPr algn="ctr"/>
            <a:r>
              <a:rPr lang="en-US" sz="3200" b="1" dirty="0">
                <a:solidFill>
                  <a:srgbClr val="0033CC"/>
                </a:solidFill>
                <a:latin typeface="Times New Roman" panose="02020603050405020304" pitchFamily="18" charset="0"/>
                <a:cs typeface="Times New Roman" panose="02020603050405020304" pitchFamily="18" charset="0"/>
              </a:rPr>
              <a:t>Smart Campus Event Management System</a:t>
            </a:r>
            <a:endParaRPr lang="en-IN" sz="3200" b="1" dirty="0">
              <a:solidFill>
                <a:srgbClr val="0033CC"/>
              </a:solidFill>
              <a:latin typeface="Times New Roman" panose="02020603050405020304" pitchFamily="18" charset="0"/>
              <a:cs typeface="Times New Roman" panose="02020603050405020304" pitchFamily="18" charset="0"/>
            </a:endParaRPr>
          </a:p>
        </p:txBody>
      </p:sp>
      <p:sp>
        <p:nvSpPr>
          <p:cNvPr id="14" name="TextBox 13"/>
          <p:cNvSpPr txBox="1"/>
          <p:nvPr/>
        </p:nvSpPr>
        <p:spPr>
          <a:xfrm>
            <a:off x="893870" y="7800539"/>
            <a:ext cx="9067800" cy="2168525"/>
          </a:xfrm>
          <a:prstGeom prst="rect">
            <a:avLst/>
          </a:prstGeom>
          <a:noFill/>
        </p:spPr>
        <p:txBody>
          <a:bodyPr wrap="square" rtlCol="0">
            <a:spAutoFit/>
          </a:bodyPr>
          <a:lstStyle/>
          <a:p>
            <a:pPr>
              <a:lnSpc>
                <a:spcPct val="150000"/>
              </a:lnSpc>
            </a:pPr>
            <a:r>
              <a:rPr lang="en-US" sz="3000" b="1" dirty="0">
                <a:latin typeface="Cambria" panose="02040503050406030204" pitchFamily="18" charset="0"/>
                <a:ea typeface="Cambria" panose="02040503050406030204" pitchFamily="18" charset="0"/>
              </a:rPr>
              <a:t>Presented By:</a:t>
            </a:r>
            <a:endParaRPr lang="en-US" sz="3000" b="1" dirty="0">
              <a:latin typeface="Cambria" panose="02040503050406030204" pitchFamily="18" charset="0"/>
              <a:ea typeface="Cambria" panose="02040503050406030204" pitchFamily="18" charset="0"/>
            </a:endParaRPr>
          </a:p>
          <a:p>
            <a:pPr>
              <a:lnSpc>
                <a:spcPct val="150000"/>
              </a:lnSpc>
            </a:pPr>
            <a:r>
              <a:rPr lang="en-US" altLang="en-IN" sz="3000" dirty="0">
                <a:latin typeface="Cambria" panose="02040503050406030204" pitchFamily="18" charset="0"/>
                <a:ea typeface="Cambria" panose="02040503050406030204" pitchFamily="18" charset="0"/>
              </a:rPr>
              <a:t>G. Srinivasa Anil Kumar</a:t>
            </a:r>
            <a:endParaRPr lang="en-US" altLang="en-IN" sz="3000" dirty="0">
              <a:latin typeface="Cambria" panose="02040503050406030204" pitchFamily="18" charset="0"/>
              <a:ea typeface="Cambria" panose="02040503050406030204" pitchFamily="18" charset="0"/>
            </a:endParaRPr>
          </a:p>
          <a:p>
            <a:pPr>
              <a:lnSpc>
                <a:spcPct val="150000"/>
              </a:lnSpc>
            </a:pPr>
            <a:r>
              <a:rPr lang="en-US" altLang="en-IN" sz="3000" dirty="0">
                <a:latin typeface="Cambria" panose="02040503050406030204" pitchFamily="18" charset="0"/>
                <a:ea typeface="Cambria" panose="02040503050406030204" pitchFamily="18" charset="0"/>
              </a:rPr>
              <a:t>VTU26558 - 23UECS0197</a:t>
            </a:r>
            <a:endParaRPr lang="en-US" altLang="en-IN" sz="3000" dirty="0">
              <a:latin typeface="Cambria" panose="02040503050406030204" pitchFamily="18" charset="0"/>
              <a:ea typeface="Cambria" panose="02040503050406030204" pitchFamily="18" charset="0"/>
            </a:endParaRPr>
          </a:p>
        </p:txBody>
      </p:sp>
      <p:sp>
        <p:nvSpPr>
          <p:cNvPr id="15" name="TextBox 14"/>
          <p:cNvSpPr txBox="1"/>
          <p:nvPr/>
        </p:nvSpPr>
        <p:spPr>
          <a:xfrm>
            <a:off x="10945035" y="7818586"/>
            <a:ext cx="6914603" cy="1476375"/>
          </a:xfrm>
          <a:prstGeom prst="rect">
            <a:avLst/>
          </a:prstGeom>
          <a:noFill/>
        </p:spPr>
        <p:txBody>
          <a:bodyPr wrap="square" rtlCol="0">
            <a:spAutoFit/>
          </a:bodyPr>
          <a:lstStyle/>
          <a:p>
            <a:pPr>
              <a:lnSpc>
                <a:spcPct val="150000"/>
              </a:lnSpc>
            </a:pPr>
            <a:r>
              <a:rPr lang="en-US" sz="3000" b="1" dirty="0">
                <a:latin typeface="Cambria" panose="02040503050406030204" pitchFamily="18" charset="0"/>
                <a:ea typeface="Cambria" panose="02040503050406030204" pitchFamily="18" charset="0"/>
              </a:rPr>
              <a:t>Courses Handling Faculty:</a:t>
            </a:r>
            <a:endParaRPr lang="en-US" sz="3000" b="1" dirty="0">
              <a:latin typeface="Cambria" panose="02040503050406030204" pitchFamily="18" charset="0"/>
              <a:ea typeface="Cambria" panose="02040503050406030204" pitchFamily="18" charset="0"/>
            </a:endParaRPr>
          </a:p>
          <a:p>
            <a:pPr>
              <a:lnSpc>
                <a:spcPct val="150000"/>
              </a:lnSpc>
            </a:pPr>
            <a:r>
              <a:rPr lang="en-US" sz="3000" dirty="0" err="1">
                <a:latin typeface="Cambria" panose="02040503050406030204" pitchFamily="18" charset="0"/>
                <a:ea typeface="Cambria" panose="02040503050406030204" pitchFamily="18" charset="0"/>
              </a:rPr>
              <a:t>Dr.Angelina Lyinda</a:t>
            </a:r>
            <a:endParaRPr lang="en-IN" sz="3000" dirty="0">
              <a:latin typeface="Cambria" panose="02040503050406030204" pitchFamily="18" charset="0"/>
              <a:ea typeface="Cambria" panose="02040503050406030204" pitchFamily="18" charset="0"/>
            </a:endParaRPr>
          </a:p>
        </p:txBody>
      </p:sp>
      <p:sp>
        <p:nvSpPr>
          <p:cNvPr id="16" name="TextBox 15"/>
          <p:cNvSpPr txBox="1"/>
          <p:nvPr/>
        </p:nvSpPr>
        <p:spPr>
          <a:xfrm>
            <a:off x="2209800" y="6972300"/>
            <a:ext cx="14743170" cy="400110"/>
          </a:xfrm>
          <a:prstGeom prst="rect">
            <a:avLst/>
          </a:prstGeom>
          <a:noFill/>
        </p:spPr>
        <p:txBody>
          <a:bodyPr wrap="square" rtlCol="0">
            <a:spAutoFit/>
          </a:bodyPr>
          <a:lstStyle/>
          <a:p>
            <a:r>
              <a:rPr lang="en-US" sz="2000" b="1" dirty="0">
                <a:latin typeface="Cambria" panose="02040503050406030204" pitchFamily="18" charset="0"/>
                <a:ea typeface="Cambria" panose="02040503050406030204" pitchFamily="18" charset="0"/>
              </a:rPr>
              <a:t>SDG: SDG No – SDG Title(Example: SDG 4 – Quality Education)</a:t>
            </a:r>
            <a:endParaRPr lang="en-IN" sz="2000" b="1" dirty="0">
              <a:latin typeface="Cambria" panose="02040503050406030204" pitchFamily="18" charset="0"/>
              <a:ea typeface="Cambria" panose="020405030504060302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8" name="Freeform 8"/>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grpSp>
        <p:nvGrpSpPr>
          <p:cNvPr id="9" name="Group 9"/>
          <p:cNvGrpSpPr/>
          <p:nvPr/>
        </p:nvGrpSpPr>
        <p:grpSpPr>
          <a:xfrm>
            <a:off x="706082" y="1952203"/>
            <a:ext cx="992463" cy="992463"/>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1" name="TextBox 11"/>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700">
                  <a:solidFill>
                    <a:srgbClr val="FFFEFE"/>
                  </a:solidFill>
                  <a:latin typeface="Gotham"/>
                  <a:ea typeface="Gotham"/>
                  <a:cs typeface="Gotham"/>
                  <a:sym typeface="Gotham"/>
                </a:rPr>
                <a:t>1</a:t>
              </a:r>
              <a:endParaRPr lang="en-US" sz="2700">
                <a:solidFill>
                  <a:srgbClr val="FFFEFE"/>
                </a:solidFill>
                <a:latin typeface="Gotham"/>
                <a:ea typeface="Gotham"/>
                <a:cs typeface="Gotham"/>
                <a:sym typeface="Gotham"/>
              </a:endParaRPr>
            </a:p>
          </p:txBody>
        </p:sp>
      </p:grpSp>
      <p:grpSp>
        <p:nvGrpSpPr>
          <p:cNvPr id="12" name="Group 12"/>
          <p:cNvGrpSpPr/>
          <p:nvPr/>
        </p:nvGrpSpPr>
        <p:grpSpPr>
          <a:xfrm>
            <a:off x="948235" y="4447339"/>
            <a:ext cx="508158" cy="543805"/>
            <a:chOff x="0" y="0"/>
            <a:chExt cx="812800" cy="869819"/>
          </a:xfrm>
        </p:grpSpPr>
        <p:sp>
          <p:nvSpPr>
            <p:cNvPr id="13" name="Freeform 1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4" name="TextBox 1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endParaRPr lang="en-US" sz="1700">
                <a:solidFill>
                  <a:srgbClr val="191919"/>
                </a:solidFill>
                <a:latin typeface="Gotham"/>
                <a:ea typeface="Gotham"/>
                <a:cs typeface="Gotham"/>
                <a:sym typeface="Gotham"/>
              </a:endParaRPr>
            </a:p>
          </p:txBody>
        </p:sp>
      </p:grpSp>
      <p:grpSp>
        <p:nvGrpSpPr>
          <p:cNvPr id="15" name="Group 15"/>
          <p:cNvGrpSpPr/>
          <p:nvPr/>
        </p:nvGrpSpPr>
        <p:grpSpPr>
          <a:xfrm>
            <a:off x="948235" y="3107362"/>
            <a:ext cx="508158" cy="543805"/>
            <a:chOff x="0" y="0"/>
            <a:chExt cx="812800" cy="869819"/>
          </a:xfrm>
        </p:grpSpPr>
        <p:sp>
          <p:nvSpPr>
            <p:cNvPr id="16" name="Freeform 1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7" name="TextBox 1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endParaRPr lang="en-US" sz="1700">
                <a:solidFill>
                  <a:srgbClr val="191919"/>
                </a:solidFill>
                <a:latin typeface="Gotham"/>
                <a:ea typeface="Gotham"/>
                <a:cs typeface="Gotham"/>
                <a:sym typeface="Gotham"/>
              </a:endParaRPr>
            </a:p>
          </p:txBody>
        </p:sp>
      </p:grpSp>
      <p:grpSp>
        <p:nvGrpSpPr>
          <p:cNvPr id="18" name="Group 18"/>
          <p:cNvGrpSpPr/>
          <p:nvPr/>
        </p:nvGrpSpPr>
        <p:grpSpPr>
          <a:xfrm>
            <a:off x="948235" y="5115753"/>
            <a:ext cx="508158" cy="543805"/>
            <a:chOff x="0" y="0"/>
            <a:chExt cx="812800" cy="869819"/>
          </a:xfrm>
        </p:grpSpPr>
        <p:sp>
          <p:nvSpPr>
            <p:cNvPr id="19" name="Freeform 1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0" name="TextBox 2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endParaRPr lang="en-US" sz="1700">
                <a:solidFill>
                  <a:srgbClr val="191919"/>
                </a:solidFill>
                <a:latin typeface="Gotham"/>
                <a:ea typeface="Gotham"/>
                <a:cs typeface="Gotham"/>
                <a:sym typeface="Gotham"/>
              </a:endParaRPr>
            </a:p>
          </p:txBody>
        </p:sp>
      </p:grpSp>
      <p:grpSp>
        <p:nvGrpSpPr>
          <p:cNvPr id="21" name="Group 21"/>
          <p:cNvGrpSpPr/>
          <p:nvPr/>
        </p:nvGrpSpPr>
        <p:grpSpPr>
          <a:xfrm>
            <a:off x="948235" y="3776486"/>
            <a:ext cx="508158" cy="543805"/>
            <a:chOff x="0" y="0"/>
            <a:chExt cx="812800" cy="869819"/>
          </a:xfrm>
        </p:grpSpPr>
        <p:sp>
          <p:nvSpPr>
            <p:cNvPr id="22" name="Freeform 2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3" name="TextBox 2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endParaRPr lang="en-US" sz="1700">
                <a:solidFill>
                  <a:srgbClr val="191919"/>
                </a:solidFill>
                <a:latin typeface="Gotham"/>
                <a:ea typeface="Gotham"/>
                <a:cs typeface="Gotham"/>
                <a:sym typeface="Gotham"/>
              </a:endParaRPr>
            </a:p>
          </p:txBody>
        </p:sp>
      </p:grpSp>
      <p:grpSp>
        <p:nvGrpSpPr>
          <p:cNvPr id="24" name="Group 24"/>
          <p:cNvGrpSpPr/>
          <p:nvPr/>
        </p:nvGrpSpPr>
        <p:grpSpPr>
          <a:xfrm>
            <a:off x="948235" y="6455730"/>
            <a:ext cx="508158" cy="543805"/>
            <a:chOff x="0" y="0"/>
            <a:chExt cx="812800" cy="869819"/>
          </a:xfrm>
        </p:grpSpPr>
        <p:sp>
          <p:nvSpPr>
            <p:cNvPr id="25" name="Freeform 2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6" name="TextBox 2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endParaRPr lang="en-US" sz="1700">
                <a:solidFill>
                  <a:srgbClr val="191919"/>
                </a:solidFill>
                <a:latin typeface="Gotham"/>
                <a:ea typeface="Gotham"/>
                <a:cs typeface="Gotham"/>
                <a:sym typeface="Gotham"/>
              </a:endParaRPr>
            </a:p>
          </p:txBody>
        </p:sp>
      </p:grpSp>
      <p:grpSp>
        <p:nvGrpSpPr>
          <p:cNvPr id="27" name="Group 27"/>
          <p:cNvGrpSpPr/>
          <p:nvPr/>
        </p:nvGrpSpPr>
        <p:grpSpPr>
          <a:xfrm>
            <a:off x="948235" y="5784877"/>
            <a:ext cx="508158" cy="543805"/>
            <a:chOff x="0" y="0"/>
            <a:chExt cx="812800" cy="869819"/>
          </a:xfrm>
        </p:grpSpPr>
        <p:sp>
          <p:nvSpPr>
            <p:cNvPr id="28" name="Freeform 2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9" name="TextBox 2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endParaRPr lang="en-US" sz="1700">
                <a:solidFill>
                  <a:srgbClr val="191919"/>
                </a:solidFill>
                <a:latin typeface="Gotham"/>
                <a:ea typeface="Gotham"/>
                <a:cs typeface="Gotham"/>
                <a:sym typeface="Gotham"/>
              </a:endParaRPr>
            </a:p>
          </p:txBody>
        </p:sp>
      </p:grpSp>
      <p:grpSp>
        <p:nvGrpSpPr>
          <p:cNvPr id="36" name="Group 36"/>
          <p:cNvGrpSpPr/>
          <p:nvPr/>
        </p:nvGrpSpPr>
        <p:grpSpPr>
          <a:xfrm>
            <a:off x="948235" y="7123361"/>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endParaRPr lang="en-US" sz="1700">
                <a:solidFill>
                  <a:srgbClr val="191919"/>
                </a:solidFill>
                <a:latin typeface="Gotham"/>
                <a:ea typeface="Gotham"/>
                <a:cs typeface="Gotham"/>
                <a:sym typeface="Gotham"/>
              </a:endParaRPr>
            </a:p>
          </p:txBody>
        </p:sp>
      </p:grpSp>
      <p:grpSp>
        <p:nvGrpSpPr>
          <p:cNvPr id="39" name="Group 39"/>
          <p:cNvGrpSpPr/>
          <p:nvPr/>
        </p:nvGrpSpPr>
        <p:grpSpPr>
          <a:xfrm>
            <a:off x="948235" y="7790991"/>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endParaRPr lang="en-US" sz="1700">
                <a:solidFill>
                  <a:srgbClr val="191919"/>
                </a:solidFill>
                <a:latin typeface="Gotham"/>
                <a:ea typeface="Gotham"/>
                <a:cs typeface="Gotham"/>
                <a:sym typeface="Gotham"/>
              </a:endParaRPr>
            </a:p>
          </p:txBody>
        </p:sp>
      </p:grpSp>
      <p:sp>
        <p:nvSpPr>
          <p:cNvPr id="2" name="TextBox 1"/>
          <p:cNvSpPr txBox="1"/>
          <p:nvPr/>
        </p:nvSpPr>
        <p:spPr>
          <a:xfrm>
            <a:off x="152400" y="342900"/>
            <a:ext cx="181356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INTRODUCTION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3" name="TextBox 2"/>
          <p:cNvSpPr txBox="1"/>
          <p:nvPr/>
        </p:nvSpPr>
        <p:spPr>
          <a:xfrm>
            <a:off x="2209800" y="1638300"/>
            <a:ext cx="15082325" cy="10002738"/>
          </a:xfrm>
          <a:prstGeom prst="rect">
            <a:avLst/>
          </a:prstGeom>
          <a:noFill/>
        </p:spPr>
        <p:txBody>
          <a:bodyPr wrap="square" rtlCol="0">
            <a:spAutoFit/>
          </a:bodyPr>
          <a:lstStyle/>
          <a:p>
            <a:pPr marL="457200" indent="-457200">
              <a:buFontTx/>
              <a:buChar char="-"/>
            </a:pPr>
            <a:r>
              <a:rPr lang="en-US" sz="2800" dirty="0">
                <a:latin typeface="Times New Roman" panose="02020603050405020304" pitchFamily="18" charset="0"/>
                <a:cs typeface="Times New Roman" panose="02020603050405020304" pitchFamily="18" charset="0"/>
              </a:rPr>
              <a:t>The Campus Event Management System is a web-based application designed to manage college events efficiently.</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It allows students to view event details and register online.</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Administrators can create, update, and manage events easily.</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The system provides a centralized platform for all event-related activities.</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It reduces manual work and paperwork.</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It improves communication between students and organizers.</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The system ensures better organization of events.</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Overall, it enhances efficiency and user experience.</a:t>
            </a:r>
            <a:endParaRPr lang="en-US" sz="2800" dirty="0">
              <a:latin typeface="Times New Roman" panose="02020603050405020304" pitchFamily="18" charset="0"/>
              <a:cs typeface="Times New Roman" panose="02020603050405020304" pitchFamily="18" charset="0"/>
            </a:endParaRP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10" name="Freeform 10"/>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grpSp>
        <p:nvGrpSpPr>
          <p:cNvPr id="11" name="Group 11"/>
          <p:cNvGrpSpPr/>
          <p:nvPr/>
        </p:nvGrpSpPr>
        <p:grpSpPr>
          <a:xfrm>
            <a:off x="709357" y="2648112"/>
            <a:ext cx="992463" cy="992463"/>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3" name="TextBox 13"/>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700">
                  <a:solidFill>
                    <a:srgbClr val="FFFEFE"/>
                  </a:solidFill>
                  <a:latin typeface="Gotham"/>
                  <a:ea typeface="Gotham"/>
                  <a:cs typeface="Gotham"/>
                  <a:sym typeface="Gotham"/>
                </a:rPr>
                <a:t>2</a:t>
              </a:r>
              <a:endParaRPr lang="en-US" sz="2700">
                <a:solidFill>
                  <a:srgbClr val="FFFEFE"/>
                </a:solidFill>
                <a:latin typeface="Gotham"/>
                <a:ea typeface="Gotham"/>
                <a:cs typeface="Gotham"/>
                <a:sym typeface="Gotham"/>
              </a:endParaRPr>
            </a:p>
          </p:txBody>
        </p:sp>
      </p:grpSp>
      <p:grpSp>
        <p:nvGrpSpPr>
          <p:cNvPr id="14" name="Group 14"/>
          <p:cNvGrpSpPr/>
          <p:nvPr/>
        </p:nvGrpSpPr>
        <p:grpSpPr>
          <a:xfrm>
            <a:off x="951509" y="4428296"/>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endParaRPr lang="en-US" sz="1700">
                <a:solidFill>
                  <a:srgbClr val="191919"/>
                </a:solidFill>
                <a:latin typeface="Gotham"/>
                <a:ea typeface="Gotham"/>
                <a:cs typeface="Gotham"/>
                <a:sym typeface="Gotham"/>
              </a:endParaRPr>
            </a:p>
          </p:txBody>
        </p:sp>
      </p:grpSp>
      <p:grpSp>
        <p:nvGrpSpPr>
          <p:cNvPr id="17" name="Group 17"/>
          <p:cNvGrpSpPr/>
          <p:nvPr/>
        </p:nvGrpSpPr>
        <p:grpSpPr>
          <a:xfrm>
            <a:off x="951509" y="1982349"/>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endParaRPr lang="en-US" sz="1700">
                <a:solidFill>
                  <a:srgbClr val="191919"/>
                </a:solidFill>
                <a:latin typeface="Gotham"/>
                <a:ea typeface="Gotham"/>
                <a:cs typeface="Gotham"/>
                <a:sym typeface="Gotham"/>
              </a:endParaRPr>
            </a:p>
          </p:txBody>
        </p:sp>
      </p:grpSp>
      <p:grpSp>
        <p:nvGrpSpPr>
          <p:cNvPr id="20" name="Group 20"/>
          <p:cNvGrpSpPr/>
          <p:nvPr/>
        </p:nvGrpSpPr>
        <p:grpSpPr>
          <a:xfrm>
            <a:off x="951509" y="509405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endParaRPr lang="en-US" sz="1700">
                <a:solidFill>
                  <a:srgbClr val="191919"/>
                </a:solidFill>
                <a:latin typeface="Gotham"/>
                <a:ea typeface="Gotham"/>
                <a:cs typeface="Gotham"/>
                <a:sym typeface="Gotham"/>
              </a:endParaRPr>
            </a:p>
          </p:txBody>
        </p:sp>
      </p:grpSp>
      <p:grpSp>
        <p:nvGrpSpPr>
          <p:cNvPr id="23" name="Group 23"/>
          <p:cNvGrpSpPr/>
          <p:nvPr/>
        </p:nvGrpSpPr>
        <p:grpSpPr>
          <a:xfrm>
            <a:off x="951509" y="376253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endParaRPr lang="en-US" sz="1700">
                <a:solidFill>
                  <a:srgbClr val="191919"/>
                </a:solidFill>
                <a:latin typeface="Gotham"/>
                <a:ea typeface="Gotham"/>
                <a:cs typeface="Gotham"/>
                <a:sym typeface="Gotham"/>
              </a:endParaRPr>
            </a:p>
          </p:txBody>
        </p:sp>
      </p:grpSp>
      <p:grpSp>
        <p:nvGrpSpPr>
          <p:cNvPr id="26" name="Group 26"/>
          <p:cNvGrpSpPr/>
          <p:nvPr/>
        </p:nvGrpSpPr>
        <p:grpSpPr>
          <a:xfrm>
            <a:off x="951509" y="6425585"/>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endParaRPr lang="en-US" sz="1700">
                <a:solidFill>
                  <a:srgbClr val="191919"/>
                </a:solidFill>
                <a:latin typeface="Gotham"/>
                <a:ea typeface="Gotham"/>
                <a:cs typeface="Gotham"/>
                <a:sym typeface="Gotham"/>
              </a:endParaRPr>
            </a:p>
          </p:txBody>
        </p:sp>
      </p:grpSp>
      <p:grpSp>
        <p:nvGrpSpPr>
          <p:cNvPr id="29" name="Group 29"/>
          <p:cNvGrpSpPr/>
          <p:nvPr/>
        </p:nvGrpSpPr>
        <p:grpSpPr>
          <a:xfrm>
            <a:off x="951509" y="5759822"/>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endParaRPr lang="en-US" sz="1700">
                <a:solidFill>
                  <a:srgbClr val="191919"/>
                </a:solidFill>
                <a:latin typeface="Gotham"/>
                <a:ea typeface="Gotham"/>
                <a:cs typeface="Gotham"/>
                <a:sym typeface="Gotham"/>
              </a:endParaRPr>
            </a:p>
          </p:txBody>
        </p:sp>
      </p:grpSp>
      <p:grpSp>
        <p:nvGrpSpPr>
          <p:cNvPr id="36" name="Group 36"/>
          <p:cNvGrpSpPr/>
          <p:nvPr/>
        </p:nvGrpSpPr>
        <p:grpSpPr>
          <a:xfrm>
            <a:off x="951509" y="7093216"/>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endParaRPr lang="en-US" sz="1700">
                <a:solidFill>
                  <a:srgbClr val="191919"/>
                </a:solidFill>
                <a:latin typeface="Gotham"/>
                <a:ea typeface="Gotham"/>
                <a:cs typeface="Gotham"/>
                <a:sym typeface="Gotham"/>
              </a:endParaRPr>
            </a:p>
          </p:txBody>
        </p:sp>
      </p:grpSp>
      <p:grpSp>
        <p:nvGrpSpPr>
          <p:cNvPr id="39" name="Group 39"/>
          <p:cNvGrpSpPr/>
          <p:nvPr/>
        </p:nvGrpSpPr>
        <p:grpSpPr>
          <a:xfrm>
            <a:off x="951509" y="7760846"/>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endParaRPr lang="en-US" sz="1700">
                <a:solidFill>
                  <a:srgbClr val="191919"/>
                </a:solidFill>
                <a:latin typeface="Gotham"/>
                <a:ea typeface="Gotham"/>
                <a:cs typeface="Gotham"/>
                <a:sym typeface="Gotham"/>
              </a:endParaRPr>
            </a:p>
          </p:txBody>
        </p:sp>
      </p:grpSp>
      <p:sp>
        <p:nvSpPr>
          <p:cNvPr id="47" name="TextBox 46"/>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PROBLEM STATEMENT</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p:cNvSpPr txBox="1"/>
          <p:nvPr/>
        </p:nvSpPr>
        <p:spPr>
          <a:xfrm>
            <a:off x="2209800" y="1638300"/>
            <a:ext cx="15082325" cy="9571851"/>
          </a:xfrm>
          <a:prstGeom prst="rect">
            <a:avLst/>
          </a:prstGeom>
          <a:noFill/>
        </p:spPr>
        <p:txBody>
          <a:bodyPr wrap="square" rtlCol="0">
            <a:spAutoFit/>
          </a:bodyPr>
          <a:lstStyle/>
          <a:p>
            <a:r>
              <a:rPr lang="en-US" sz="2800" dirty="0">
                <a:latin typeface="Times New Roman" panose="02020603050405020304" pitchFamily="18" charset="0"/>
                <a:cs typeface="Times New Roman" panose="02020603050405020304" pitchFamily="18" charset="0"/>
              </a:rPr>
              <a:t>Traditional event management in colleges is mostly manual and time-consuming.</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It involves paperwork and manual record maintenance.</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Students may miss event updates due to lack of communication.</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Managing registrations becomes difficult for administrators.</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Data redundancy and errors are common in manual systems.</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Tracking participants is not efficient.</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There is no centralized system for event information.</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Hence, an automated solution is required.</a:t>
            </a:r>
            <a:endParaRPr lang="en-US" sz="2800" dirty="0">
              <a:latin typeface="Times New Roman" panose="02020603050405020304" pitchFamily="18" charset="0"/>
              <a:cs typeface="Times New Roman" panose="02020603050405020304" pitchFamily="18" charset="0"/>
            </a:endParaRPr>
          </a:p>
          <a:p>
            <a:pPr marL="457200" indent="-457200">
              <a:buFontTx/>
              <a:buChar char="-"/>
            </a:pPr>
            <a:endParaRPr lang="en-US" sz="2800" dirty="0">
              <a:latin typeface="Times New Roman" panose="02020603050405020304" pitchFamily="18" charset="0"/>
              <a:cs typeface="Times New Roman" panose="02020603050405020304" pitchFamily="18" charset="0"/>
            </a:endParaRP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09357" y="3315742"/>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700">
                  <a:solidFill>
                    <a:srgbClr val="FFFEFE"/>
                  </a:solidFill>
                  <a:latin typeface="Gotham"/>
                  <a:ea typeface="Gotham"/>
                  <a:cs typeface="Gotham"/>
                  <a:sym typeface="Gotham"/>
                </a:rPr>
                <a:t>3</a:t>
              </a:r>
              <a:endParaRPr lang="en-US" sz="2700">
                <a:solidFill>
                  <a:srgbClr val="FFFEFE"/>
                </a:solidFill>
                <a:latin typeface="Gotham"/>
                <a:ea typeface="Gotham"/>
                <a:cs typeface="Gotham"/>
                <a:sym typeface="Gotham"/>
              </a:endParaRPr>
            </a:p>
          </p:txBody>
        </p:sp>
      </p:grpSp>
      <p:grpSp>
        <p:nvGrpSpPr>
          <p:cNvPr id="10" name="Group 10"/>
          <p:cNvGrpSpPr/>
          <p:nvPr/>
        </p:nvGrpSpPr>
        <p:grpSpPr>
          <a:xfrm>
            <a:off x="951509" y="4428296"/>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endParaRPr lang="en-US" sz="1700">
                <a:solidFill>
                  <a:srgbClr val="191919"/>
                </a:solidFill>
                <a:latin typeface="Gotham"/>
                <a:ea typeface="Gotham"/>
                <a:cs typeface="Gotham"/>
                <a:sym typeface="Gotham"/>
              </a:endParaRPr>
            </a:p>
          </p:txBody>
        </p:sp>
      </p:grpSp>
      <p:grpSp>
        <p:nvGrpSpPr>
          <p:cNvPr id="13" name="Group 13"/>
          <p:cNvGrpSpPr/>
          <p:nvPr/>
        </p:nvGrpSpPr>
        <p:grpSpPr>
          <a:xfrm>
            <a:off x="951509"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endParaRPr lang="en-US" sz="1700">
                <a:solidFill>
                  <a:srgbClr val="191919"/>
                </a:solidFill>
                <a:latin typeface="Gotham"/>
                <a:ea typeface="Gotham"/>
                <a:cs typeface="Gotham"/>
                <a:sym typeface="Gotham"/>
              </a:endParaRPr>
            </a:p>
          </p:txBody>
        </p:sp>
      </p:grpSp>
      <p:grpSp>
        <p:nvGrpSpPr>
          <p:cNvPr id="16" name="Group 16"/>
          <p:cNvGrpSpPr/>
          <p:nvPr/>
        </p:nvGrpSpPr>
        <p:grpSpPr>
          <a:xfrm>
            <a:off x="951509" y="5094059"/>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endParaRPr lang="en-US" sz="1700">
                <a:solidFill>
                  <a:srgbClr val="191919"/>
                </a:solidFill>
                <a:latin typeface="Gotham"/>
                <a:ea typeface="Gotham"/>
                <a:cs typeface="Gotham"/>
                <a:sym typeface="Gotham"/>
              </a:endParaRPr>
            </a:p>
          </p:txBody>
        </p:sp>
      </p:grpSp>
      <p:grpSp>
        <p:nvGrpSpPr>
          <p:cNvPr id="19" name="Group 19"/>
          <p:cNvGrpSpPr/>
          <p:nvPr/>
        </p:nvGrpSpPr>
        <p:grpSpPr>
          <a:xfrm>
            <a:off x="951509"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endParaRPr lang="en-US" sz="1700">
                <a:solidFill>
                  <a:srgbClr val="191919"/>
                </a:solidFill>
                <a:latin typeface="Gotham"/>
                <a:ea typeface="Gotham"/>
                <a:cs typeface="Gotham"/>
                <a:sym typeface="Gotham"/>
              </a:endParaRPr>
            </a:p>
          </p:txBody>
        </p:sp>
      </p:grpSp>
      <p:grpSp>
        <p:nvGrpSpPr>
          <p:cNvPr id="22" name="Group 22"/>
          <p:cNvGrpSpPr/>
          <p:nvPr/>
        </p:nvGrpSpPr>
        <p:grpSpPr>
          <a:xfrm>
            <a:off x="951509" y="6425585"/>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endParaRPr lang="en-US" sz="1700">
                <a:solidFill>
                  <a:srgbClr val="191919"/>
                </a:solidFill>
                <a:latin typeface="Gotham"/>
                <a:ea typeface="Gotham"/>
                <a:cs typeface="Gotham"/>
                <a:sym typeface="Gotham"/>
              </a:endParaRPr>
            </a:p>
          </p:txBody>
        </p:sp>
      </p:grpSp>
      <p:grpSp>
        <p:nvGrpSpPr>
          <p:cNvPr id="25" name="Group 25"/>
          <p:cNvGrpSpPr/>
          <p:nvPr/>
        </p:nvGrpSpPr>
        <p:grpSpPr>
          <a:xfrm>
            <a:off x="951509" y="575982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endParaRPr lang="en-US" sz="1700">
                <a:solidFill>
                  <a:srgbClr val="191919"/>
                </a:solidFill>
                <a:latin typeface="Gotham"/>
                <a:ea typeface="Gotham"/>
                <a:cs typeface="Gotham"/>
                <a:sym typeface="Gotham"/>
              </a:endParaRPr>
            </a:p>
          </p:txBody>
        </p:sp>
      </p:grpSp>
      <p:grpSp>
        <p:nvGrpSpPr>
          <p:cNvPr id="41" name="Group 41"/>
          <p:cNvGrpSpPr/>
          <p:nvPr/>
        </p:nvGrpSpPr>
        <p:grpSpPr>
          <a:xfrm>
            <a:off x="951509" y="7093216"/>
            <a:ext cx="508158" cy="543805"/>
            <a:chOff x="0" y="0"/>
            <a:chExt cx="812800" cy="869819"/>
          </a:xfrm>
        </p:grpSpPr>
        <p:sp>
          <p:nvSpPr>
            <p:cNvPr id="42" name="Freeform 4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3" name="TextBox 4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endParaRPr lang="en-US" sz="1700">
                <a:solidFill>
                  <a:srgbClr val="191919"/>
                </a:solidFill>
                <a:latin typeface="Gotham"/>
                <a:ea typeface="Gotham"/>
                <a:cs typeface="Gotham"/>
                <a:sym typeface="Gotham"/>
              </a:endParaRPr>
            </a:p>
          </p:txBody>
        </p:sp>
      </p:grpSp>
      <p:grpSp>
        <p:nvGrpSpPr>
          <p:cNvPr id="44" name="Group 44"/>
          <p:cNvGrpSpPr/>
          <p:nvPr/>
        </p:nvGrpSpPr>
        <p:grpSpPr>
          <a:xfrm>
            <a:off x="951509" y="7760846"/>
            <a:ext cx="508158" cy="543805"/>
            <a:chOff x="0" y="0"/>
            <a:chExt cx="812800" cy="869819"/>
          </a:xfrm>
        </p:grpSpPr>
        <p:sp>
          <p:nvSpPr>
            <p:cNvPr id="45" name="Freeform 4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6" name="TextBox 4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endParaRPr lang="en-US" sz="1700">
                <a:solidFill>
                  <a:srgbClr val="191919"/>
                </a:solidFill>
                <a:latin typeface="Gotham"/>
                <a:ea typeface="Gotham"/>
                <a:cs typeface="Gotham"/>
                <a:sym typeface="Gotham"/>
              </a:endParaRPr>
            </a:p>
          </p:txBody>
        </p:sp>
      </p:grpSp>
      <p:sp>
        <p:nvSpPr>
          <p:cNvPr id="50" name="TextBox 49"/>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OBJECTIVE(S)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51" name="Freeform 10"/>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52" name="TextBox 51"/>
          <p:cNvSpPr txBox="1"/>
          <p:nvPr/>
        </p:nvSpPr>
        <p:spPr>
          <a:xfrm>
            <a:off x="2209800" y="1638300"/>
            <a:ext cx="15082325" cy="6986528"/>
          </a:xfrm>
          <a:prstGeom prst="rect">
            <a:avLst/>
          </a:prstGeom>
          <a:noFill/>
        </p:spPr>
        <p:txBody>
          <a:bodyPr wrap="square" rtlCol="0">
            <a:spAutoFit/>
          </a:bodyPr>
          <a:lstStyle/>
          <a:p>
            <a:r>
              <a:rPr lang="en-US" sz="2800" dirty="0">
                <a:latin typeface="Times New Roman" panose="02020603050405020304" pitchFamily="18" charset="0"/>
                <a:cs typeface="Times New Roman" panose="02020603050405020304" pitchFamily="18" charset="0"/>
              </a:rPr>
              <a:t>To develop an efficient event management system.</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To provide easy online registration for students.</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To reduce manual work and paperwork.</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To maintain accurate and centralized data.</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To improve communication between users and admin.</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To ensure quick access to event information.</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To enhance user experience with a simple interface.</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To support effective decision-making and management.</a:t>
            </a:r>
            <a:endParaRPr lang="en-US" sz="2800" dirty="0">
              <a:latin typeface="Times New Roman" panose="02020603050405020304" pitchFamily="18" charset="0"/>
              <a:cs typeface="Times New Roman" panose="02020603050405020304" pitchFamily="18" charset="0"/>
            </a:endParaRPr>
          </a:p>
          <a:p>
            <a:endParaRPr lang="en-US" sz="2800" dirty="0">
              <a:latin typeface="Times New Roman" panose="02020603050405020304" pitchFamily="18" charset="0"/>
              <a:cs typeface="Times New Roman" panose="02020603050405020304" pitchFamily="18" charset="0"/>
            </a:endParaRP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3" name="Group 13"/>
          <p:cNvGrpSpPr/>
          <p:nvPr/>
        </p:nvGrpSpPr>
        <p:grpSpPr>
          <a:xfrm>
            <a:off x="709357" y="3983373"/>
            <a:ext cx="992463" cy="992463"/>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5" name="TextBox 15"/>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700">
                  <a:solidFill>
                    <a:srgbClr val="FFFEFE"/>
                  </a:solidFill>
                  <a:latin typeface="Gotham"/>
                  <a:ea typeface="Gotham"/>
                  <a:cs typeface="Gotham"/>
                  <a:sym typeface="Gotham"/>
                </a:rPr>
                <a:t>4</a:t>
              </a:r>
              <a:endParaRPr lang="en-US" sz="2700">
                <a:solidFill>
                  <a:srgbClr val="FFFEFE"/>
                </a:solidFill>
                <a:latin typeface="Gotham"/>
                <a:ea typeface="Gotham"/>
                <a:cs typeface="Gotham"/>
                <a:sym typeface="Gotham"/>
              </a:endParaRPr>
            </a:p>
          </p:txBody>
        </p:sp>
      </p:grpSp>
      <p:grpSp>
        <p:nvGrpSpPr>
          <p:cNvPr id="16" name="Group 16"/>
          <p:cNvGrpSpPr/>
          <p:nvPr/>
        </p:nvGrpSpPr>
        <p:grpSpPr>
          <a:xfrm>
            <a:off x="951509" y="3315742"/>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endParaRPr lang="en-US" sz="1700">
                <a:solidFill>
                  <a:srgbClr val="191919"/>
                </a:solidFill>
                <a:latin typeface="Gotham"/>
                <a:ea typeface="Gotham"/>
                <a:cs typeface="Gotham"/>
                <a:sym typeface="Gotham"/>
              </a:endParaRPr>
            </a:p>
          </p:txBody>
        </p:sp>
      </p:grpSp>
      <p:grpSp>
        <p:nvGrpSpPr>
          <p:cNvPr id="19" name="Group 19"/>
          <p:cNvGrpSpPr/>
          <p:nvPr/>
        </p:nvGrpSpPr>
        <p:grpSpPr>
          <a:xfrm>
            <a:off x="951509" y="1982349"/>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endParaRPr lang="en-US" sz="1700">
                <a:solidFill>
                  <a:srgbClr val="191919"/>
                </a:solidFill>
                <a:latin typeface="Gotham"/>
                <a:ea typeface="Gotham"/>
                <a:cs typeface="Gotham"/>
                <a:sym typeface="Gotham"/>
              </a:endParaRPr>
            </a:p>
          </p:txBody>
        </p:sp>
      </p:grpSp>
      <p:grpSp>
        <p:nvGrpSpPr>
          <p:cNvPr id="22" name="Group 22"/>
          <p:cNvGrpSpPr/>
          <p:nvPr/>
        </p:nvGrpSpPr>
        <p:grpSpPr>
          <a:xfrm>
            <a:off x="951509" y="5094059"/>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endParaRPr lang="en-US" sz="1700">
                <a:solidFill>
                  <a:srgbClr val="191919"/>
                </a:solidFill>
                <a:latin typeface="Gotham"/>
                <a:ea typeface="Gotham"/>
                <a:cs typeface="Gotham"/>
                <a:sym typeface="Gotham"/>
              </a:endParaRPr>
            </a:p>
          </p:txBody>
        </p:sp>
      </p:grpSp>
      <p:grpSp>
        <p:nvGrpSpPr>
          <p:cNvPr id="25" name="Group 25"/>
          <p:cNvGrpSpPr/>
          <p:nvPr/>
        </p:nvGrpSpPr>
        <p:grpSpPr>
          <a:xfrm>
            <a:off x="951509" y="264811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endParaRPr lang="en-US" sz="1700">
                <a:solidFill>
                  <a:srgbClr val="191919"/>
                </a:solidFill>
                <a:latin typeface="Gotham"/>
                <a:ea typeface="Gotham"/>
                <a:cs typeface="Gotham"/>
                <a:sym typeface="Gotham"/>
              </a:endParaRPr>
            </a:p>
          </p:txBody>
        </p:sp>
      </p:grpSp>
      <p:grpSp>
        <p:nvGrpSpPr>
          <p:cNvPr id="28" name="Group 28"/>
          <p:cNvGrpSpPr/>
          <p:nvPr/>
        </p:nvGrpSpPr>
        <p:grpSpPr>
          <a:xfrm>
            <a:off x="951509" y="6425585"/>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endParaRPr lang="en-US" sz="1700">
                <a:solidFill>
                  <a:srgbClr val="191919"/>
                </a:solidFill>
                <a:latin typeface="Gotham"/>
                <a:ea typeface="Gotham"/>
                <a:cs typeface="Gotham"/>
                <a:sym typeface="Gotham"/>
              </a:endParaRPr>
            </a:p>
          </p:txBody>
        </p:sp>
      </p:grpSp>
      <p:grpSp>
        <p:nvGrpSpPr>
          <p:cNvPr id="31" name="Group 31"/>
          <p:cNvGrpSpPr/>
          <p:nvPr/>
        </p:nvGrpSpPr>
        <p:grpSpPr>
          <a:xfrm>
            <a:off x="951509" y="575982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endParaRPr lang="en-US" sz="1700">
                <a:solidFill>
                  <a:srgbClr val="191919"/>
                </a:solidFill>
                <a:latin typeface="Gotham"/>
                <a:ea typeface="Gotham"/>
                <a:cs typeface="Gotham"/>
                <a:sym typeface="Gotham"/>
              </a:endParaRPr>
            </a:p>
          </p:txBody>
        </p:sp>
      </p:grpSp>
      <p:grpSp>
        <p:nvGrpSpPr>
          <p:cNvPr id="34" name="Group 34"/>
          <p:cNvGrpSpPr/>
          <p:nvPr/>
        </p:nvGrpSpPr>
        <p:grpSpPr>
          <a:xfrm>
            <a:off x="951509" y="7093216"/>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endParaRPr lang="en-US" sz="1700">
                <a:solidFill>
                  <a:srgbClr val="191919"/>
                </a:solidFill>
                <a:latin typeface="Gotham"/>
                <a:ea typeface="Gotham"/>
                <a:cs typeface="Gotham"/>
                <a:sym typeface="Gotham"/>
              </a:endParaRPr>
            </a:p>
          </p:txBody>
        </p:sp>
      </p:grpSp>
      <p:grpSp>
        <p:nvGrpSpPr>
          <p:cNvPr id="37" name="Group 37"/>
          <p:cNvGrpSpPr/>
          <p:nvPr/>
        </p:nvGrpSpPr>
        <p:grpSpPr>
          <a:xfrm>
            <a:off x="951509" y="776084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endParaRPr lang="en-US" sz="1700">
                <a:solidFill>
                  <a:srgbClr val="191919"/>
                </a:solidFill>
                <a:latin typeface="Gotham"/>
                <a:ea typeface="Gotham"/>
                <a:cs typeface="Gotham"/>
                <a:sym typeface="Gotham"/>
              </a:endParaRPr>
            </a:p>
          </p:txBody>
        </p:sp>
      </p:grpSp>
      <p:sp>
        <p:nvSpPr>
          <p:cNvPr id="45" name="Freeform 10"/>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46" name="TextBox 45"/>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p:cNvSpPr txBox="1"/>
          <p:nvPr/>
        </p:nvSpPr>
        <p:spPr>
          <a:xfrm>
            <a:off x="2147478" y="1980097"/>
            <a:ext cx="15082325" cy="6124754"/>
          </a:xfrm>
          <a:prstGeom prst="rect">
            <a:avLst/>
          </a:prstGeom>
          <a:noFill/>
        </p:spPr>
        <p:txBody>
          <a:bodyPr wrap="square" rtlCol="0">
            <a:spAutoFit/>
          </a:bodyPr>
          <a:lstStyle/>
          <a:p>
            <a:pPr lvl="1"/>
            <a:r>
              <a:rPr lang="en-US" sz="2800" dirty="0">
                <a:latin typeface="Times New Roman" panose="02020603050405020304" pitchFamily="18" charset="0"/>
                <a:cs typeface="Times New Roman" panose="02020603050405020304" pitchFamily="18" charset="0"/>
              </a:rPr>
              <a:t>The proposed system is an online platform that automates event management processes. It allows students to register, view events, and participate easily, while administrators can manage events, monitor registrations, and update event information in real time.</a:t>
            </a:r>
            <a:endParaRPr lang="en-US" sz="2800" dirty="0">
              <a:latin typeface="Times New Roman" panose="02020603050405020304" pitchFamily="18" charset="0"/>
              <a:cs typeface="Times New Roman" panose="02020603050405020304" pitchFamily="18" charset="0"/>
            </a:endParaRPr>
          </a:p>
          <a:p>
            <a:pPr marL="457200" indent="-457200">
              <a:buFontTx/>
              <a:buChar char="-"/>
            </a:pPr>
            <a:endParaRPr lang="en-US" sz="2800" dirty="0">
              <a:latin typeface="Times New Roman" panose="02020603050405020304" pitchFamily="18" charset="0"/>
              <a:cs typeface="Times New Roman" panose="02020603050405020304" pitchFamily="18" charset="0"/>
            </a:endParaRP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5" name="Group 5"/>
          <p:cNvGrpSpPr/>
          <p:nvPr/>
        </p:nvGrpSpPr>
        <p:grpSpPr>
          <a:xfrm>
            <a:off x="709357" y="4655766"/>
            <a:ext cx="992463" cy="992463"/>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7" name="TextBox 7"/>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700">
                  <a:solidFill>
                    <a:srgbClr val="FFFEFE"/>
                  </a:solidFill>
                  <a:latin typeface="Gotham"/>
                  <a:ea typeface="Gotham"/>
                  <a:cs typeface="Gotham"/>
                  <a:sym typeface="Gotham"/>
                </a:rPr>
                <a:t>5</a:t>
              </a:r>
              <a:endParaRPr lang="en-US" sz="2700">
                <a:solidFill>
                  <a:srgbClr val="FFFEFE"/>
                </a:solidFill>
                <a:latin typeface="Gotham"/>
                <a:ea typeface="Gotham"/>
                <a:cs typeface="Gotham"/>
                <a:sym typeface="Gotham"/>
              </a:endParaRPr>
            </a:p>
          </p:txBody>
        </p:sp>
      </p:grpSp>
      <p:grpSp>
        <p:nvGrpSpPr>
          <p:cNvPr id="8" name="Group 8"/>
          <p:cNvGrpSpPr/>
          <p:nvPr/>
        </p:nvGrpSpPr>
        <p:grpSpPr>
          <a:xfrm>
            <a:off x="951509" y="3320505"/>
            <a:ext cx="508158" cy="543805"/>
            <a:chOff x="0" y="0"/>
            <a:chExt cx="812800" cy="869819"/>
          </a:xfrm>
        </p:grpSpPr>
        <p:sp>
          <p:nvSpPr>
            <p:cNvPr id="9" name="Freeform 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 name="TextBox 1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endParaRPr lang="en-US" sz="1700">
                <a:solidFill>
                  <a:srgbClr val="191919"/>
                </a:solidFill>
                <a:latin typeface="Gotham"/>
                <a:ea typeface="Gotham"/>
                <a:cs typeface="Gotham"/>
                <a:sym typeface="Gotham"/>
              </a:endParaRPr>
            </a:p>
          </p:txBody>
        </p:sp>
      </p:grpSp>
      <p:grpSp>
        <p:nvGrpSpPr>
          <p:cNvPr id="11" name="Group 11"/>
          <p:cNvGrpSpPr/>
          <p:nvPr/>
        </p:nvGrpSpPr>
        <p:grpSpPr>
          <a:xfrm>
            <a:off x="951509" y="1987111"/>
            <a:ext cx="508158" cy="543805"/>
            <a:chOff x="0" y="0"/>
            <a:chExt cx="812800" cy="869819"/>
          </a:xfrm>
        </p:grpSpPr>
        <p:sp>
          <p:nvSpPr>
            <p:cNvPr id="12" name="Freeform 1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3" name="TextBox 1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endParaRPr lang="en-US" sz="1700">
                <a:solidFill>
                  <a:srgbClr val="191919"/>
                </a:solidFill>
                <a:latin typeface="Gotham"/>
                <a:ea typeface="Gotham"/>
                <a:cs typeface="Gotham"/>
                <a:sym typeface="Gotham"/>
              </a:endParaRPr>
            </a:p>
          </p:txBody>
        </p:sp>
      </p:grpSp>
      <p:grpSp>
        <p:nvGrpSpPr>
          <p:cNvPr id="14" name="Group 14"/>
          <p:cNvGrpSpPr/>
          <p:nvPr/>
        </p:nvGrpSpPr>
        <p:grpSpPr>
          <a:xfrm>
            <a:off x="951509" y="3988135"/>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endParaRPr lang="en-US" sz="1700">
                <a:solidFill>
                  <a:srgbClr val="191919"/>
                </a:solidFill>
                <a:latin typeface="Gotham"/>
                <a:ea typeface="Gotham"/>
                <a:cs typeface="Gotham"/>
                <a:sym typeface="Gotham"/>
              </a:endParaRPr>
            </a:p>
          </p:txBody>
        </p:sp>
      </p:grpSp>
      <p:grpSp>
        <p:nvGrpSpPr>
          <p:cNvPr id="17" name="Group 17"/>
          <p:cNvGrpSpPr/>
          <p:nvPr/>
        </p:nvGrpSpPr>
        <p:grpSpPr>
          <a:xfrm>
            <a:off x="951509" y="2652874"/>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endParaRPr lang="en-US" sz="1700">
                <a:solidFill>
                  <a:srgbClr val="191919"/>
                </a:solidFill>
                <a:latin typeface="Gotham"/>
                <a:ea typeface="Gotham"/>
                <a:cs typeface="Gotham"/>
                <a:sym typeface="Gotham"/>
              </a:endParaRPr>
            </a:p>
          </p:txBody>
        </p:sp>
      </p:grpSp>
      <p:grpSp>
        <p:nvGrpSpPr>
          <p:cNvPr id="20" name="Group 20"/>
          <p:cNvGrpSpPr/>
          <p:nvPr/>
        </p:nvGrpSpPr>
        <p:grpSpPr>
          <a:xfrm>
            <a:off x="951509" y="6430348"/>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endParaRPr lang="en-US" sz="1700">
                <a:solidFill>
                  <a:srgbClr val="191919"/>
                </a:solidFill>
                <a:latin typeface="Gotham"/>
                <a:ea typeface="Gotham"/>
                <a:cs typeface="Gotham"/>
                <a:sym typeface="Gotham"/>
              </a:endParaRPr>
            </a:p>
          </p:txBody>
        </p:sp>
      </p:grpSp>
      <p:grpSp>
        <p:nvGrpSpPr>
          <p:cNvPr id="23" name="Group 23"/>
          <p:cNvGrpSpPr/>
          <p:nvPr/>
        </p:nvGrpSpPr>
        <p:grpSpPr>
          <a:xfrm>
            <a:off x="951509" y="5764584"/>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endParaRPr lang="en-US" sz="1700">
                <a:solidFill>
                  <a:srgbClr val="191919"/>
                </a:solidFill>
                <a:latin typeface="Gotham"/>
                <a:ea typeface="Gotham"/>
                <a:cs typeface="Gotham"/>
                <a:sym typeface="Gotham"/>
              </a:endParaRPr>
            </a:p>
          </p:txBody>
        </p:sp>
      </p:grpSp>
      <p:grpSp>
        <p:nvGrpSpPr>
          <p:cNvPr id="26" name="Group 26"/>
          <p:cNvGrpSpPr/>
          <p:nvPr/>
        </p:nvGrpSpPr>
        <p:grpSpPr>
          <a:xfrm>
            <a:off x="951509" y="7088453"/>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endParaRPr lang="en-US" sz="1700">
                <a:solidFill>
                  <a:srgbClr val="191919"/>
                </a:solidFill>
                <a:latin typeface="Gotham"/>
                <a:ea typeface="Gotham"/>
                <a:cs typeface="Gotham"/>
                <a:sym typeface="Gotham"/>
              </a:endParaRPr>
            </a:p>
          </p:txBody>
        </p:sp>
      </p:grpSp>
      <p:grpSp>
        <p:nvGrpSpPr>
          <p:cNvPr id="29" name="Group 29"/>
          <p:cNvGrpSpPr/>
          <p:nvPr/>
        </p:nvGrpSpPr>
        <p:grpSpPr>
          <a:xfrm>
            <a:off x="951509" y="7756083"/>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endParaRPr lang="en-US" sz="1700">
                <a:solidFill>
                  <a:srgbClr val="191919"/>
                </a:solidFill>
                <a:latin typeface="Gotham"/>
                <a:ea typeface="Gotham"/>
                <a:cs typeface="Gotham"/>
                <a:sym typeface="Gotham"/>
              </a:endParaRPr>
            </a:p>
          </p:txBody>
        </p:sp>
      </p:grpSp>
      <p:grpSp>
        <p:nvGrpSpPr>
          <p:cNvPr id="37" name="Group 37"/>
          <p:cNvGrpSpPr/>
          <p:nvPr/>
        </p:nvGrpSpPr>
        <p:grpSpPr>
          <a:xfrm>
            <a:off x="11762088" y="-9632634"/>
            <a:ext cx="10994424" cy="10994424"/>
            <a:chOff x="0" y="0"/>
            <a:chExt cx="812800" cy="812800"/>
          </a:xfrm>
        </p:grpSpPr>
        <p:sp>
          <p:nvSpPr>
            <p:cNvPr id="38" name="Freeform 3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9" name="TextBox 39"/>
            <p:cNvSpPr txBox="1"/>
            <p:nvPr/>
          </p:nvSpPr>
          <p:spPr>
            <a:xfrm>
              <a:off x="76200" y="47625"/>
              <a:ext cx="660400" cy="688975"/>
            </a:xfrm>
            <a:prstGeom prst="rect">
              <a:avLst/>
            </a:prstGeom>
          </p:spPr>
          <p:txBody>
            <a:bodyPr lIns="50800" tIns="50800" rIns="50800" bIns="50800" rtlCol="0" anchor="ctr"/>
            <a:lstStyle/>
            <a:p>
              <a:pPr algn="ctr">
                <a:lnSpc>
                  <a:spcPts val="2660"/>
                </a:lnSpc>
              </a:pPr>
            </a:p>
          </p:txBody>
        </p:sp>
      </p:grpSp>
      <p:sp>
        <p:nvSpPr>
          <p:cNvPr id="41" name="Freeform 10"/>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42" name="TextBox 41"/>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 ARCHITECTURE</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3" name="TextBox 42"/>
          <p:cNvSpPr txBox="1"/>
          <p:nvPr/>
        </p:nvSpPr>
        <p:spPr>
          <a:xfrm>
            <a:off x="2209800" y="1638300"/>
            <a:ext cx="15082325" cy="5262979"/>
          </a:xfrm>
          <a:prstGeom prst="rect">
            <a:avLst/>
          </a:prstGeom>
          <a:noFill/>
        </p:spPr>
        <p:txBody>
          <a:bodyPr wrap="square" rtlCol="0">
            <a:spAutoFit/>
          </a:bodyPr>
          <a:lstStyle/>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3" name="Picture 2"/>
          <p:cNvPicPr>
            <a:picLocks noChangeAspect="1"/>
          </p:cNvPicPr>
          <p:nvPr/>
        </p:nvPicPr>
        <p:blipFill>
          <a:blip r:embed="rId3"/>
          <a:stretch>
            <a:fillRect/>
          </a:stretch>
        </p:blipFill>
        <p:spPr>
          <a:xfrm>
            <a:off x="4191000" y="1862010"/>
            <a:ext cx="9554217" cy="6329916"/>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4" name="Group 14"/>
          <p:cNvGrpSpPr/>
          <p:nvPr/>
        </p:nvGrpSpPr>
        <p:grpSpPr>
          <a:xfrm>
            <a:off x="735588" y="5318634"/>
            <a:ext cx="992463" cy="992463"/>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6" name="TextBox 16"/>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700">
                  <a:solidFill>
                    <a:srgbClr val="FFFEFE"/>
                  </a:solidFill>
                  <a:latin typeface="Gotham"/>
                  <a:ea typeface="Gotham"/>
                  <a:cs typeface="Gotham"/>
                  <a:sym typeface="Gotham"/>
                </a:rPr>
                <a:t>6</a:t>
              </a:r>
              <a:endParaRPr lang="en-US" sz="2700">
                <a:solidFill>
                  <a:srgbClr val="FFFEFE"/>
                </a:solidFill>
                <a:latin typeface="Gotham"/>
                <a:ea typeface="Gotham"/>
                <a:cs typeface="Gotham"/>
                <a:sym typeface="Gotham"/>
              </a:endParaRPr>
            </a:p>
          </p:txBody>
        </p:sp>
      </p:grpSp>
      <p:grpSp>
        <p:nvGrpSpPr>
          <p:cNvPr id="17" name="Group 17"/>
          <p:cNvGrpSpPr/>
          <p:nvPr/>
        </p:nvGrpSpPr>
        <p:grpSpPr>
          <a:xfrm>
            <a:off x="977741" y="3315742"/>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endParaRPr lang="en-US" sz="1700">
                <a:solidFill>
                  <a:srgbClr val="191919"/>
                </a:solidFill>
                <a:latin typeface="Gotham"/>
                <a:ea typeface="Gotham"/>
                <a:cs typeface="Gotham"/>
                <a:sym typeface="Gotham"/>
              </a:endParaRPr>
            </a:p>
          </p:txBody>
        </p:sp>
      </p:grpSp>
      <p:grpSp>
        <p:nvGrpSpPr>
          <p:cNvPr id="20" name="Group 20"/>
          <p:cNvGrpSpPr/>
          <p:nvPr/>
        </p:nvGrpSpPr>
        <p:grpSpPr>
          <a:xfrm>
            <a:off x="977741" y="198234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endParaRPr lang="en-US" sz="1700">
                <a:solidFill>
                  <a:srgbClr val="191919"/>
                </a:solidFill>
                <a:latin typeface="Gotham"/>
                <a:ea typeface="Gotham"/>
                <a:cs typeface="Gotham"/>
                <a:sym typeface="Gotham"/>
              </a:endParaRPr>
            </a:p>
          </p:txBody>
        </p:sp>
      </p:grpSp>
      <p:grpSp>
        <p:nvGrpSpPr>
          <p:cNvPr id="23" name="Group 23"/>
          <p:cNvGrpSpPr/>
          <p:nvPr/>
        </p:nvGrpSpPr>
        <p:grpSpPr>
          <a:xfrm>
            <a:off x="977741" y="398337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endParaRPr lang="en-US" sz="1700">
                <a:solidFill>
                  <a:srgbClr val="191919"/>
                </a:solidFill>
                <a:latin typeface="Gotham"/>
                <a:ea typeface="Gotham"/>
                <a:cs typeface="Gotham"/>
                <a:sym typeface="Gotham"/>
              </a:endParaRPr>
            </a:p>
          </p:txBody>
        </p:sp>
      </p:grpSp>
      <p:grpSp>
        <p:nvGrpSpPr>
          <p:cNvPr id="26" name="Group 26"/>
          <p:cNvGrpSpPr/>
          <p:nvPr/>
        </p:nvGrpSpPr>
        <p:grpSpPr>
          <a:xfrm>
            <a:off x="977741" y="2648112"/>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endParaRPr lang="en-US" sz="1700">
                <a:solidFill>
                  <a:srgbClr val="191919"/>
                </a:solidFill>
                <a:latin typeface="Gotham"/>
                <a:ea typeface="Gotham"/>
                <a:cs typeface="Gotham"/>
                <a:sym typeface="Gotham"/>
              </a:endParaRPr>
            </a:p>
          </p:txBody>
        </p:sp>
      </p:grpSp>
      <p:grpSp>
        <p:nvGrpSpPr>
          <p:cNvPr id="29" name="Group 29"/>
          <p:cNvGrpSpPr/>
          <p:nvPr/>
        </p:nvGrpSpPr>
        <p:grpSpPr>
          <a:xfrm>
            <a:off x="977741" y="6425585"/>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endParaRPr lang="en-US" sz="1700">
                <a:solidFill>
                  <a:srgbClr val="191919"/>
                </a:solidFill>
                <a:latin typeface="Gotham"/>
                <a:ea typeface="Gotham"/>
                <a:cs typeface="Gotham"/>
                <a:sym typeface="Gotham"/>
              </a:endParaRPr>
            </a:p>
          </p:txBody>
        </p:sp>
      </p:grpSp>
      <p:grpSp>
        <p:nvGrpSpPr>
          <p:cNvPr id="32" name="Group 32"/>
          <p:cNvGrpSpPr/>
          <p:nvPr/>
        </p:nvGrpSpPr>
        <p:grpSpPr>
          <a:xfrm>
            <a:off x="977741" y="4651003"/>
            <a:ext cx="508158" cy="543805"/>
            <a:chOff x="0" y="0"/>
            <a:chExt cx="812800" cy="869819"/>
          </a:xfrm>
        </p:grpSpPr>
        <p:sp>
          <p:nvSpPr>
            <p:cNvPr id="33" name="Freeform 3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4" name="TextBox 3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endParaRPr lang="en-US" sz="1700">
                <a:solidFill>
                  <a:srgbClr val="191919"/>
                </a:solidFill>
                <a:latin typeface="Gotham"/>
                <a:ea typeface="Gotham"/>
                <a:cs typeface="Gotham"/>
                <a:sym typeface="Gotham"/>
              </a:endParaRPr>
            </a:p>
          </p:txBody>
        </p:sp>
      </p:grpSp>
      <p:grpSp>
        <p:nvGrpSpPr>
          <p:cNvPr id="37" name="Group 37"/>
          <p:cNvGrpSpPr/>
          <p:nvPr/>
        </p:nvGrpSpPr>
        <p:grpSpPr>
          <a:xfrm>
            <a:off x="977741" y="709321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endParaRPr lang="en-US" sz="1700">
                <a:solidFill>
                  <a:srgbClr val="191919"/>
                </a:solidFill>
                <a:latin typeface="Gotham"/>
                <a:ea typeface="Gotham"/>
                <a:cs typeface="Gotham"/>
                <a:sym typeface="Gotham"/>
              </a:endParaRPr>
            </a:p>
          </p:txBody>
        </p:sp>
      </p:grpSp>
      <p:grpSp>
        <p:nvGrpSpPr>
          <p:cNvPr id="40" name="Group 40"/>
          <p:cNvGrpSpPr/>
          <p:nvPr/>
        </p:nvGrpSpPr>
        <p:grpSpPr>
          <a:xfrm>
            <a:off x="977741" y="776084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endParaRPr lang="en-US" sz="1700">
                <a:solidFill>
                  <a:srgbClr val="191919"/>
                </a:solidFill>
                <a:latin typeface="Gotham"/>
                <a:ea typeface="Gotham"/>
                <a:cs typeface="Gotham"/>
                <a:sym typeface="Gotham"/>
              </a:endParaRPr>
            </a:p>
          </p:txBody>
        </p:sp>
      </p:grpSp>
      <p:sp>
        <p:nvSpPr>
          <p:cNvPr id="46" name="Freeform 10"/>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47" name="TextBox 46"/>
          <p:cNvSpPr txBox="1"/>
          <p:nvPr/>
        </p:nvSpPr>
        <p:spPr>
          <a:xfrm>
            <a:off x="190500" y="315938"/>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WORKFLOW</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50" name="TextBox 49"/>
          <p:cNvSpPr txBox="1"/>
          <p:nvPr/>
        </p:nvSpPr>
        <p:spPr>
          <a:xfrm>
            <a:off x="2209800" y="1638300"/>
            <a:ext cx="15082325" cy="4832092"/>
          </a:xfrm>
          <a:prstGeom prst="rect">
            <a:avLst/>
          </a:prstGeom>
          <a:noFill/>
        </p:spPr>
        <p:txBody>
          <a:bodyPr wrap="square" rtlCol="0">
            <a:spAutoFit/>
          </a:bodyPr>
          <a:lstStyle/>
          <a:p>
            <a:endParaRPr lang="en-US" sz="2800" dirty="0"/>
          </a:p>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3" name="Picture 2"/>
          <p:cNvPicPr>
            <a:picLocks noChangeAspect="1"/>
          </p:cNvPicPr>
          <p:nvPr/>
        </p:nvPicPr>
        <p:blipFill>
          <a:blip r:embed="rId3"/>
          <a:stretch>
            <a:fillRect/>
          </a:stretch>
        </p:blipFill>
        <p:spPr>
          <a:xfrm>
            <a:off x="3159240" y="1731957"/>
            <a:ext cx="10099560" cy="5278703"/>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9" name="Group 19"/>
          <p:cNvGrpSpPr/>
          <p:nvPr/>
        </p:nvGrpSpPr>
        <p:grpSpPr>
          <a:xfrm>
            <a:off x="735588" y="5976927"/>
            <a:ext cx="992463" cy="992463"/>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21" name="TextBox 21"/>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700">
                  <a:solidFill>
                    <a:srgbClr val="FFFEFE"/>
                  </a:solidFill>
                  <a:latin typeface="Gotham"/>
                  <a:ea typeface="Gotham"/>
                  <a:cs typeface="Gotham"/>
                  <a:sym typeface="Gotham"/>
                </a:rPr>
                <a:t>7</a:t>
              </a:r>
              <a:endParaRPr lang="en-US" sz="2700">
                <a:solidFill>
                  <a:srgbClr val="FFFEFE"/>
                </a:solidFill>
                <a:latin typeface="Gotham"/>
                <a:ea typeface="Gotham"/>
                <a:cs typeface="Gotham"/>
                <a:sym typeface="Gotham"/>
              </a:endParaRPr>
            </a:p>
          </p:txBody>
        </p:sp>
      </p:grpSp>
      <p:grpSp>
        <p:nvGrpSpPr>
          <p:cNvPr id="22" name="Group 22"/>
          <p:cNvGrpSpPr/>
          <p:nvPr/>
        </p:nvGrpSpPr>
        <p:grpSpPr>
          <a:xfrm>
            <a:off x="977741" y="3315742"/>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endParaRPr lang="en-US" sz="1700">
                <a:solidFill>
                  <a:srgbClr val="191919"/>
                </a:solidFill>
                <a:latin typeface="Gotham"/>
                <a:ea typeface="Gotham"/>
                <a:cs typeface="Gotham"/>
                <a:sym typeface="Gotham"/>
              </a:endParaRPr>
            </a:p>
          </p:txBody>
        </p:sp>
      </p:grpSp>
      <p:grpSp>
        <p:nvGrpSpPr>
          <p:cNvPr id="25" name="Group 25"/>
          <p:cNvGrpSpPr/>
          <p:nvPr/>
        </p:nvGrpSpPr>
        <p:grpSpPr>
          <a:xfrm>
            <a:off x="977741" y="1982349"/>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endParaRPr lang="en-US" sz="1700">
                <a:solidFill>
                  <a:srgbClr val="191919"/>
                </a:solidFill>
                <a:latin typeface="Gotham"/>
                <a:ea typeface="Gotham"/>
                <a:cs typeface="Gotham"/>
                <a:sym typeface="Gotham"/>
              </a:endParaRPr>
            </a:p>
          </p:txBody>
        </p:sp>
      </p:grpSp>
      <p:grpSp>
        <p:nvGrpSpPr>
          <p:cNvPr id="28" name="Group 28"/>
          <p:cNvGrpSpPr/>
          <p:nvPr/>
        </p:nvGrpSpPr>
        <p:grpSpPr>
          <a:xfrm>
            <a:off x="977741" y="3983373"/>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endParaRPr lang="en-US" sz="1700">
                <a:solidFill>
                  <a:srgbClr val="191919"/>
                </a:solidFill>
                <a:latin typeface="Gotham"/>
                <a:ea typeface="Gotham"/>
                <a:cs typeface="Gotham"/>
                <a:sym typeface="Gotham"/>
              </a:endParaRPr>
            </a:p>
          </p:txBody>
        </p:sp>
      </p:grpSp>
      <p:grpSp>
        <p:nvGrpSpPr>
          <p:cNvPr id="31" name="Group 31"/>
          <p:cNvGrpSpPr/>
          <p:nvPr/>
        </p:nvGrpSpPr>
        <p:grpSpPr>
          <a:xfrm>
            <a:off x="977741" y="264811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endParaRPr lang="en-US" sz="1700">
                <a:solidFill>
                  <a:srgbClr val="191919"/>
                </a:solidFill>
                <a:latin typeface="Gotham"/>
                <a:ea typeface="Gotham"/>
                <a:cs typeface="Gotham"/>
                <a:sym typeface="Gotham"/>
              </a:endParaRPr>
            </a:p>
          </p:txBody>
        </p:sp>
      </p:grpSp>
      <p:grpSp>
        <p:nvGrpSpPr>
          <p:cNvPr id="34" name="Group 34"/>
          <p:cNvGrpSpPr/>
          <p:nvPr/>
        </p:nvGrpSpPr>
        <p:grpSpPr>
          <a:xfrm>
            <a:off x="977741" y="5318634"/>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endParaRPr lang="en-US" sz="1700">
                <a:solidFill>
                  <a:srgbClr val="191919"/>
                </a:solidFill>
                <a:latin typeface="Gotham"/>
                <a:ea typeface="Gotham"/>
                <a:cs typeface="Gotham"/>
                <a:sym typeface="Gotham"/>
              </a:endParaRPr>
            </a:p>
          </p:txBody>
        </p:sp>
      </p:grpSp>
      <p:grpSp>
        <p:nvGrpSpPr>
          <p:cNvPr id="37" name="Group 37"/>
          <p:cNvGrpSpPr/>
          <p:nvPr/>
        </p:nvGrpSpPr>
        <p:grpSpPr>
          <a:xfrm>
            <a:off x="977741" y="4651003"/>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endParaRPr lang="en-US" sz="1700">
                <a:solidFill>
                  <a:srgbClr val="191919"/>
                </a:solidFill>
                <a:latin typeface="Gotham"/>
                <a:ea typeface="Gotham"/>
                <a:cs typeface="Gotham"/>
                <a:sym typeface="Gotham"/>
              </a:endParaRPr>
            </a:p>
          </p:txBody>
        </p:sp>
      </p:grpSp>
      <p:grpSp>
        <p:nvGrpSpPr>
          <p:cNvPr id="40" name="Group 40"/>
          <p:cNvGrpSpPr/>
          <p:nvPr/>
        </p:nvGrpSpPr>
        <p:grpSpPr>
          <a:xfrm>
            <a:off x="977741" y="709321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endParaRPr lang="en-US" sz="1700">
                <a:solidFill>
                  <a:srgbClr val="191919"/>
                </a:solidFill>
                <a:latin typeface="Gotham"/>
                <a:ea typeface="Gotham"/>
                <a:cs typeface="Gotham"/>
                <a:sym typeface="Gotham"/>
              </a:endParaRPr>
            </a:p>
          </p:txBody>
        </p:sp>
      </p:grpSp>
      <p:grpSp>
        <p:nvGrpSpPr>
          <p:cNvPr id="43" name="Group 43"/>
          <p:cNvGrpSpPr/>
          <p:nvPr/>
        </p:nvGrpSpPr>
        <p:grpSpPr>
          <a:xfrm>
            <a:off x="977741" y="7760846"/>
            <a:ext cx="508158" cy="543805"/>
            <a:chOff x="0" y="0"/>
            <a:chExt cx="812800" cy="869819"/>
          </a:xfrm>
        </p:grpSpPr>
        <p:sp>
          <p:nvSpPr>
            <p:cNvPr id="44" name="Freeform 4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5" name="TextBox 4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endParaRPr lang="en-US" sz="1700">
                <a:solidFill>
                  <a:srgbClr val="191919"/>
                </a:solidFill>
                <a:latin typeface="Gotham"/>
                <a:ea typeface="Gotham"/>
                <a:cs typeface="Gotham"/>
                <a:sym typeface="Gotham"/>
              </a:endParaRPr>
            </a:p>
          </p:txBody>
        </p:sp>
      </p:grpSp>
      <p:sp>
        <p:nvSpPr>
          <p:cNvPr id="46" name="Freeform 10"/>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47" name="TextBox 46"/>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TECHNOLOGIES USED</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p:cNvSpPr txBox="1"/>
          <p:nvPr/>
        </p:nvSpPr>
        <p:spPr>
          <a:xfrm>
            <a:off x="2209800" y="1638300"/>
            <a:ext cx="15082325" cy="10433625"/>
          </a:xfrm>
          <a:prstGeom prst="rect">
            <a:avLst/>
          </a:prstGeom>
          <a:noFill/>
        </p:spPr>
        <p:txBody>
          <a:bodyPr wrap="square" rtlCol="0">
            <a:spAutoFit/>
          </a:bodyPr>
          <a:lstStyle/>
          <a:p>
            <a:pPr marL="457200" indent="-457200">
              <a:buFontTx/>
              <a:buChar char="-"/>
            </a:pPr>
            <a:r>
              <a:rPr lang="en-US" sz="2800" b="1" dirty="0"/>
              <a:t>Frontend:</a:t>
            </a:r>
            <a:endParaRPr lang="en-US" sz="2800" b="1" dirty="0"/>
          </a:p>
          <a:p>
            <a:pPr marL="457200" indent="-457200">
              <a:buFontTx/>
              <a:buChar char="-"/>
            </a:pPr>
            <a:r>
              <a:rPr lang="en-US" sz="2800" dirty="0"/>
              <a:t>HTML5, CSS3, JavaScript used for designing user interface and interactive web pages.</a:t>
            </a:r>
            <a:endParaRPr lang="en-US" sz="2800" dirty="0"/>
          </a:p>
          <a:p>
            <a:pPr marL="457200" indent="-457200">
              <a:buFontTx/>
              <a:buChar char="-"/>
            </a:pPr>
            <a:r>
              <a:rPr lang="en-US" sz="2800" b="1" dirty="0"/>
              <a:t>Backend:</a:t>
            </a:r>
            <a:endParaRPr lang="en-US" sz="2800" b="1" dirty="0"/>
          </a:p>
          <a:p>
            <a:pPr marL="457200" indent="-457200">
              <a:buFontTx/>
              <a:buChar char="-"/>
            </a:pPr>
            <a:r>
              <a:rPr lang="en-US" sz="2800" dirty="0"/>
              <a:t>PHP used for server-side processing and handling user requests</a:t>
            </a:r>
            <a:endParaRPr lang="en-US" sz="2800" dirty="0"/>
          </a:p>
          <a:p>
            <a:pPr marL="457200" indent="-457200">
              <a:buFontTx/>
              <a:buChar char="-"/>
            </a:pPr>
            <a:r>
              <a:rPr lang="en-US" sz="2800" b="1" dirty="0"/>
              <a:t>Database:</a:t>
            </a:r>
            <a:endParaRPr lang="en-US" sz="2800" b="1" dirty="0"/>
          </a:p>
          <a:p>
            <a:pPr marL="457200" indent="-457200">
              <a:buFontTx/>
              <a:buChar char="-"/>
            </a:pPr>
            <a:r>
              <a:rPr lang="en-US" sz="2800" dirty="0"/>
              <a:t>MySQL used to store and manage data such as users, events, and registrations.</a:t>
            </a:r>
            <a:endParaRPr lang="en-US" sz="2800" dirty="0"/>
          </a:p>
          <a:p>
            <a:pPr marL="457200" indent="-457200">
              <a:buFontTx/>
              <a:buChar char="-"/>
            </a:pPr>
            <a:r>
              <a:rPr lang="en-US" sz="2800" b="1" dirty="0"/>
              <a:t>Tools:</a:t>
            </a:r>
            <a:endParaRPr lang="en-US" sz="2800" b="1" dirty="0"/>
          </a:p>
          <a:p>
            <a:pPr marL="457200" indent="-457200">
              <a:buFontTx/>
              <a:buChar char="-"/>
            </a:pPr>
            <a:r>
              <a:rPr lang="en-US" sz="2800" dirty="0"/>
              <a:t>XAMPP for local server.</a:t>
            </a:r>
            <a:endParaRPr lang="en-US" sz="2800" dirty="0"/>
          </a:p>
          <a:p>
            <a:pPr marL="457200" indent="-457200">
              <a:buFontTx/>
              <a:buChar char="-"/>
            </a:pPr>
            <a:r>
              <a:rPr lang="en-US" sz="2800" dirty="0"/>
              <a:t>VS for coding.</a:t>
            </a:r>
            <a:endParaRPr lang="en-US" sz="2800" dirty="0"/>
          </a:p>
          <a:p>
            <a:pPr marL="457200" indent="-457200">
              <a:buFontTx/>
              <a:buChar char="-"/>
            </a:pPr>
            <a:r>
              <a:rPr lang="en-US" sz="2800" dirty="0"/>
              <a:t>PhpMyAdmin for database management.</a:t>
            </a: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700">
                  <a:solidFill>
                    <a:srgbClr val="FFFEFE"/>
                  </a:solidFill>
                  <a:latin typeface="Gotham"/>
                  <a:ea typeface="Gotham"/>
                  <a:cs typeface="Gotham"/>
                  <a:sym typeface="Gotham"/>
                </a:rPr>
                <a:t>8</a:t>
              </a:r>
              <a:endParaRPr lang="en-US" sz="2700">
                <a:solidFill>
                  <a:srgbClr val="FFFEFE"/>
                </a:solidFill>
                <a:latin typeface="Gotham"/>
                <a:ea typeface="Gotham"/>
                <a:cs typeface="Gotham"/>
                <a:sym typeface="Gotham"/>
              </a:endParaRP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endParaRPr lang="en-US" sz="1700">
                <a:solidFill>
                  <a:srgbClr val="191919"/>
                </a:solidFill>
                <a:latin typeface="Gotham"/>
                <a:ea typeface="Gotham"/>
                <a:cs typeface="Gotham"/>
                <a:sym typeface="Gotham"/>
              </a:endParaRP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endParaRPr lang="en-US" sz="1700">
                <a:solidFill>
                  <a:srgbClr val="191919"/>
                </a:solidFill>
                <a:latin typeface="Gotham"/>
                <a:ea typeface="Gotham"/>
                <a:cs typeface="Gotham"/>
                <a:sym typeface="Gotham"/>
              </a:endParaRP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endParaRPr lang="en-US" sz="1700">
                <a:solidFill>
                  <a:srgbClr val="191919"/>
                </a:solidFill>
                <a:latin typeface="Gotham"/>
                <a:ea typeface="Gotham"/>
                <a:cs typeface="Gotham"/>
                <a:sym typeface="Gotham"/>
              </a:endParaRP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endParaRPr lang="en-US" sz="1700">
                <a:solidFill>
                  <a:srgbClr val="191919"/>
                </a:solidFill>
                <a:latin typeface="Gotham"/>
                <a:ea typeface="Gotham"/>
                <a:cs typeface="Gotham"/>
                <a:sym typeface="Gotham"/>
              </a:endParaRP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endParaRPr lang="en-US" sz="1700">
                <a:solidFill>
                  <a:srgbClr val="191919"/>
                </a:solidFill>
                <a:latin typeface="Gotham"/>
                <a:ea typeface="Gotham"/>
                <a:cs typeface="Gotham"/>
                <a:sym typeface="Gotham"/>
              </a:endParaRP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endParaRPr lang="en-US" sz="1700">
                <a:solidFill>
                  <a:srgbClr val="191919"/>
                </a:solidFill>
                <a:latin typeface="Gotham"/>
                <a:ea typeface="Gotham"/>
                <a:cs typeface="Gotham"/>
                <a:sym typeface="Gotham"/>
              </a:endParaRP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endParaRPr lang="en-US" sz="1700">
                <a:solidFill>
                  <a:srgbClr val="191919"/>
                </a:solidFill>
                <a:latin typeface="Gotham"/>
                <a:ea typeface="Gotham"/>
                <a:cs typeface="Gotham"/>
                <a:sym typeface="Gotham"/>
              </a:endParaRP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endParaRPr lang="en-US" sz="1700">
                <a:solidFill>
                  <a:srgbClr val="191919"/>
                </a:solidFill>
                <a:latin typeface="Gotham"/>
                <a:ea typeface="Gotham"/>
                <a:cs typeface="Gotham"/>
                <a:sym typeface="Gotham"/>
              </a:endParaRPr>
            </a:p>
          </p:txBody>
        </p:sp>
      </p:grpSp>
      <p:sp>
        <p:nvSpPr>
          <p:cNvPr id="34" name="Freeform 34"/>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grpSp>
        <p:nvGrpSpPr>
          <p:cNvPr id="35" name="Group 35"/>
          <p:cNvGrpSpPr/>
          <p:nvPr/>
        </p:nvGrpSpPr>
        <p:grpSpPr>
          <a:xfrm>
            <a:off x="17170670" y="-178579"/>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60"/>
                </a:lnSpc>
              </a:pPr>
            </a:p>
          </p:txBody>
        </p:sp>
      </p:grpSp>
      <p:sp>
        <p:nvSpPr>
          <p:cNvPr id="43" name="TextBox 42"/>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MODULE DESCRIPTION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p:cNvSpPr txBox="1"/>
          <p:nvPr/>
        </p:nvSpPr>
        <p:spPr>
          <a:xfrm>
            <a:off x="2291275" y="1638300"/>
            <a:ext cx="15082325" cy="6986528"/>
          </a:xfrm>
          <a:prstGeom prst="rect">
            <a:avLst/>
          </a:prstGeom>
          <a:noFill/>
        </p:spPr>
        <p:txBody>
          <a:bodyPr wrap="square" rtlCol="0">
            <a:spAutoFit/>
          </a:bodyPr>
          <a:lstStyle/>
          <a:p>
            <a:r>
              <a:rPr lang="en-US" sz="2800" b="1" dirty="0">
                <a:latin typeface="Times New Roman" panose="02020603050405020304" pitchFamily="18" charset="0"/>
                <a:cs typeface="Times New Roman" panose="02020603050405020304" pitchFamily="18" charset="0"/>
              </a:rPr>
              <a:t>Module 1: User Management</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Handles student and admin registration, login, and profile management with secure authentication.</a:t>
            </a:r>
            <a:endParaRPr lang="en-US" sz="2800" dirty="0">
              <a:latin typeface="Times New Roman" panose="02020603050405020304" pitchFamily="18" charset="0"/>
              <a:cs typeface="Times New Roman" panose="02020603050405020304" pitchFamily="18" charset="0"/>
            </a:endParaRPr>
          </a:p>
          <a:p>
            <a:r>
              <a:rPr lang="en-US" sz="2800" b="1" dirty="0">
                <a:latin typeface="Times New Roman" panose="02020603050405020304" pitchFamily="18" charset="0"/>
                <a:cs typeface="Times New Roman" panose="02020603050405020304" pitchFamily="18" charset="0"/>
              </a:rPr>
              <a:t>Module 2: Event Processing</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Implements core functionalities like adding events, viewing events, and managing event participation.</a:t>
            </a:r>
            <a:endParaRPr lang="en-US" sz="2800" dirty="0">
              <a:latin typeface="Times New Roman" panose="02020603050405020304" pitchFamily="18" charset="0"/>
              <a:cs typeface="Times New Roman" panose="02020603050405020304" pitchFamily="18" charset="0"/>
            </a:endParaRPr>
          </a:p>
          <a:p>
            <a:r>
              <a:rPr lang="en-US" sz="2800" b="1" dirty="0">
                <a:latin typeface="Times New Roman" panose="02020603050405020304" pitchFamily="18" charset="0"/>
                <a:cs typeface="Times New Roman" panose="02020603050405020304" pitchFamily="18" charset="0"/>
              </a:rPr>
              <a:t>Module 3: Database Management</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Manages storage and retrieval of data related to users, events, and registrations while ensuring data integrity.</a:t>
            </a:r>
            <a:endParaRPr lang="en-US" sz="2800" dirty="0">
              <a:latin typeface="Times New Roman" panose="02020603050405020304" pitchFamily="18" charset="0"/>
              <a:cs typeface="Times New Roman" panose="02020603050405020304" pitchFamily="18" charset="0"/>
            </a:endParaRPr>
          </a:p>
          <a:p>
            <a:r>
              <a:rPr lang="en-US" sz="2800" b="1" dirty="0">
                <a:latin typeface="Times New Roman" panose="02020603050405020304" pitchFamily="18" charset="0"/>
                <a:cs typeface="Times New Roman" panose="02020603050405020304" pitchFamily="18" charset="0"/>
              </a:rPr>
              <a:t>Module 4: Reporting &amp; Analytics</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Generates reports such as participant lists and event summaries for effective decision-making.</a:t>
            </a:r>
            <a:endParaRPr lang="en-IN" sz="2800" dirty="0">
              <a:latin typeface="Times New Roman" panose="02020603050405020304" pitchFamily="18" charset="0"/>
              <a:cs typeface="Times New Roman" panose="02020603050405020304" pitchFamily="18" charset="0"/>
            </a:endParaRPr>
          </a:p>
          <a:p>
            <a:endParaRPr lang="en-IN" sz="2800" dirty="0">
              <a:latin typeface="Times New Roman" panose="02020603050405020304" pitchFamily="18" charset="0"/>
              <a:cs typeface="Times New Roman" panose="02020603050405020304" pitchFamily="18" charset="0"/>
            </a:endParaRPr>
          </a:p>
          <a:p>
            <a:endParaRPr lang="en-IN" sz="2800" dirty="0"/>
          </a:p>
          <a:p>
            <a:endParaRPr lang="en-IN" sz="2800" dirty="0"/>
          </a:p>
          <a:p>
            <a:endParaRPr lang="en-IN" sz="2800" dirty="0"/>
          </a:p>
          <a:p>
            <a:endParaRPr lang="en-IN" sz="2800" dirty="0"/>
          </a:p>
          <a:p>
            <a:endParaRPr lang="en-IN" sz="2800" dirty="0"/>
          </a:p>
          <a:p>
            <a:endParaRPr lang="en-IN" sz="2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400" b="1" dirty="0">
                  <a:solidFill>
                    <a:srgbClr val="002060"/>
                  </a:solidFill>
                  <a:latin typeface="Gotham"/>
                  <a:ea typeface="Gotham"/>
                  <a:cs typeface="Gotham"/>
                  <a:sym typeface="Gotham"/>
                </a:rPr>
                <a:t>8</a:t>
              </a:r>
              <a:endParaRPr lang="en-US" sz="2400" b="1" dirty="0">
                <a:solidFill>
                  <a:srgbClr val="002060"/>
                </a:solidFill>
                <a:latin typeface="Gotham"/>
                <a:ea typeface="Gotham"/>
                <a:cs typeface="Gotham"/>
                <a:sym typeface="Gotham"/>
              </a:endParaRP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endParaRPr lang="en-US" sz="1700">
                <a:solidFill>
                  <a:srgbClr val="191919"/>
                </a:solidFill>
                <a:latin typeface="Gotham"/>
                <a:ea typeface="Gotham"/>
                <a:cs typeface="Gotham"/>
                <a:sym typeface="Gotham"/>
              </a:endParaRP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endParaRPr lang="en-US" sz="1700">
                <a:solidFill>
                  <a:srgbClr val="191919"/>
                </a:solidFill>
                <a:latin typeface="Gotham"/>
                <a:ea typeface="Gotham"/>
                <a:cs typeface="Gotham"/>
                <a:sym typeface="Gotham"/>
              </a:endParaRP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endParaRPr lang="en-US" sz="1700">
                <a:solidFill>
                  <a:srgbClr val="191919"/>
                </a:solidFill>
                <a:latin typeface="Gotham"/>
                <a:ea typeface="Gotham"/>
                <a:cs typeface="Gotham"/>
                <a:sym typeface="Gotham"/>
              </a:endParaRP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endParaRPr lang="en-US" sz="1700">
                <a:solidFill>
                  <a:srgbClr val="191919"/>
                </a:solidFill>
                <a:latin typeface="Gotham"/>
                <a:ea typeface="Gotham"/>
                <a:cs typeface="Gotham"/>
                <a:sym typeface="Gotham"/>
              </a:endParaRP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endParaRPr lang="en-US" sz="1700">
                <a:solidFill>
                  <a:srgbClr val="191919"/>
                </a:solidFill>
                <a:latin typeface="Gotham"/>
                <a:ea typeface="Gotham"/>
                <a:cs typeface="Gotham"/>
                <a:sym typeface="Gotham"/>
              </a:endParaRP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endParaRPr lang="en-US" sz="1700">
                <a:solidFill>
                  <a:srgbClr val="191919"/>
                </a:solidFill>
                <a:latin typeface="Gotham"/>
                <a:ea typeface="Gotham"/>
                <a:cs typeface="Gotham"/>
                <a:sym typeface="Gotham"/>
              </a:endParaRP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endParaRPr lang="en-US" sz="1700">
                <a:solidFill>
                  <a:srgbClr val="191919"/>
                </a:solidFill>
                <a:latin typeface="Gotham"/>
                <a:ea typeface="Gotham"/>
                <a:cs typeface="Gotham"/>
                <a:sym typeface="Gotham"/>
              </a:endParaRP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endParaRPr lang="en-US" sz="1700">
                <a:solidFill>
                  <a:srgbClr val="191919"/>
                </a:solidFill>
                <a:latin typeface="Gotham"/>
                <a:ea typeface="Gotham"/>
                <a:cs typeface="Gotham"/>
                <a:sym typeface="Gotham"/>
              </a:endParaRPr>
            </a:p>
          </p:txBody>
        </p:sp>
      </p:grpSp>
      <p:sp>
        <p:nvSpPr>
          <p:cNvPr id="34" name="Freeform 34"/>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grpSp>
        <p:nvGrpSpPr>
          <p:cNvPr id="35" name="Group 35"/>
          <p:cNvGrpSpPr/>
          <p:nvPr/>
        </p:nvGrpSpPr>
        <p:grpSpPr>
          <a:xfrm>
            <a:off x="17170670" y="-178579"/>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60"/>
                </a:lnSpc>
              </a:pPr>
            </a:p>
          </p:txBody>
        </p:sp>
      </p:grpSp>
      <p:sp>
        <p:nvSpPr>
          <p:cNvPr id="43" name="TextBox 42"/>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p:cNvSpPr txBox="1"/>
          <p:nvPr/>
        </p:nvSpPr>
        <p:spPr>
          <a:xfrm>
            <a:off x="2367475" y="1638300"/>
            <a:ext cx="15082325" cy="6124754"/>
          </a:xfrm>
          <a:prstGeom prst="rect">
            <a:avLst/>
          </a:prstGeom>
          <a:noFill/>
        </p:spPr>
        <p:txBody>
          <a:bodyPr wrap="square" rtlCol="0">
            <a:spAutoFit/>
          </a:bodyPr>
          <a:lstStyle/>
          <a:p>
            <a:endParaRPr lang="en-US" sz="2800" dirty="0"/>
          </a:p>
          <a:p>
            <a:pPr marL="457200" indent="-457200">
              <a:buFontTx/>
              <a:buChar char="-"/>
            </a:pPr>
            <a:r>
              <a:rPr lang="en-US" sz="2800" dirty="0"/>
              <a:t>Login page</a:t>
            </a: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2" name="Picture 1"/>
          <p:cNvPicPr>
            <a:picLocks noChangeAspect="1"/>
          </p:cNvPicPr>
          <p:nvPr/>
        </p:nvPicPr>
        <p:blipFill>
          <a:blip r:embed="rId3"/>
          <a:stretch>
            <a:fillRect/>
          </a:stretch>
        </p:blipFill>
        <p:spPr>
          <a:xfrm>
            <a:off x="4119245" y="3021965"/>
            <a:ext cx="10048875" cy="649160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400" b="1" dirty="0">
                  <a:solidFill>
                    <a:srgbClr val="002060"/>
                  </a:solidFill>
                  <a:latin typeface="Gotham"/>
                  <a:ea typeface="Gotham"/>
                  <a:cs typeface="Gotham"/>
                  <a:sym typeface="Gotham"/>
                </a:rPr>
                <a:t>8(A)</a:t>
              </a:r>
              <a:endParaRPr lang="en-US" sz="2400" b="1" dirty="0">
                <a:solidFill>
                  <a:srgbClr val="002060"/>
                </a:solidFill>
                <a:latin typeface="Gotham"/>
                <a:ea typeface="Gotham"/>
                <a:cs typeface="Gotham"/>
                <a:sym typeface="Gotham"/>
              </a:endParaRP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endParaRPr lang="en-US" sz="1700">
                <a:solidFill>
                  <a:srgbClr val="191919"/>
                </a:solidFill>
                <a:latin typeface="Gotham"/>
                <a:ea typeface="Gotham"/>
                <a:cs typeface="Gotham"/>
                <a:sym typeface="Gotham"/>
              </a:endParaRP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endParaRPr lang="en-US" sz="1700">
                <a:solidFill>
                  <a:srgbClr val="191919"/>
                </a:solidFill>
                <a:latin typeface="Gotham"/>
                <a:ea typeface="Gotham"/>
                <a:cs typeface="Gotham"/>
                <a:sym typeface="Gotham"/>
              </a:endParaRP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endParaRPr lang="en-US" sz="1700">
                <a:solidFill>
                  <a:srgbClr val="191919"/>
                </a:solidFill>
                <a:latin typeface="Gotham"/>
                <a:ea typeface="Gotham"/>
                <a:cs typeface="Gotham"/>
                <a:sym typeface="Gotham"/>
              </a:endParaRP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endParaRPr lang="en-US" sz="1700">
                <a:solidFill>
                  <a:srgbClr val="191919"/>
                </a:solidFill>
                <a:latin typeface="Gotham"/>
                <a:ea typeface="Gotham"/>
                <a:cs typeface="Gotham"/>
                <a:sym typeface="Gotham"/>
              </a:endParaRP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endParaRPr lang="en-US" sz="1700">
                <a:solidFill>
                  <a:srgbClr val="191919"/>
                </a:solidFill>
                <a:latin typeface="Gotham"/>
                <a:ea typeface="Gotham"/>
                <a:cs typeface="Gotham"/>
                <a:sym typeface="Gotham"/>
              </a:endParaRP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endParaRPr lang="en-US" sz="1700">
                <a:solidFill>
                  <a:srgbClr val="191919"/>
                </a:solidFill>
                <a:latin typeface="Gotham"/>
                <a:ea typeface="Gotham"/>
                <a:cs typeface="Gotham"/>
                <a:sym typeface="Gotham"/>
              </a:endParaRP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endParaRPr lang="en-US" sz="1700">
                <a:solidFill>
                  <a:srgbClr val="191919"/>
                </a:solidFill>
                <a:latin typeface="Gotham"/>
                <a:ea typeface="Gotham"/>
                <a:cs typeface="Gotham"/>
                <a:sym typeface="Gotham"/>
              </a:endParaRP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endParaRPr lang="en-US" sz="1700">
                <a:solidFill>
                  <a:srgbClr val="191919"/>
                </a:solidFill>
                <a:latin typeface="Gotham"/>
                <a:ea typeface="Gotham"/>
                <a:cs typeface="Gotham"/>
                <a:sym typeface="Gotham"/>
              </a:endParaRPr>
            </a:p>
          </p:txBody>
        </p:sp>
      </p:grpSp>
      <p:sp>
        <p:nvSpPr>
          <p:cNvPr id="34" name="Freeform 34"/>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grpSp>
        <p:nvGrpSpPr>
          <p:cNvPr id="35" name="Group 35"/>
          <p:cNvGrpSpPr/>
          <p:nvPr/>
        </p:nvGrpSpPr>
        <p:grpSpPr>
          <a:xfrm>
            <a:off x="17170670" y="-178579"/>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60"/>
                </a:lnSpc>
              </a:pPr>
            </a:p>
          </p:txBody>
        </p:sp>
      </p:grpSp>
      <p:sp>
        <p:nvSpPr>
          <p:cNvPr id="43" name="TextBox 42"/>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p:cNvSpPr txBox="1"/>
          <p:nvPr/>
        </p:nvSpPr>
        <p:spPr>
          <a:xfrm>
            <a:off x="2209800" y="1638300"/>
            <a:ext cx="15082325" cy="5692775"/>
          </a:xfrm>
          <a:prstGeom prst="rect">
            <a:avLst/>
          </a:prstGeom>
          <a:noFill/>
        </p:spPr>
        <p:txBody>
          <a:bodyPr wrap="square" rtlCol="0">
            <a:spAutoFit/>
          </a:bodyPr>
          <a:lstStyle/>
          <a:p>
            <a:r>
              <a:rPr lang="en-US" sz="2800" dirty="0"/>
              <a:t>  Admin page</a:t>
            </a: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2" name="Picture 1"/>
          <p:cNvPicPr>
            <a:picLocks noChangeAspect="1"/>
          </p:cNvPicPr>
          <p:nvPr/>
        </p:nvPicPr>
        <p:blipFill>
          <a:blip r:embed="rId3"/>
          <a:stretch>
            <a:fillRect/>
          </a:stretch>
        </p:blipFill>
        <p:spPr>
          <a:xfrm>
            <a:off x="1600200" y="2933700"/>
            <a:ext cx="15087600" cy="546989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400" b="1" dirty="0">
                  <a:solidFill>
                    <a:srgbClr val="002060"/>
                  </a:solidFill>
                  <a:latin typeface="Gotham"/>
                  <a:ea typeface="Gotham"/>
                  <a:cs typeface="Gotham"/>
                  <a:sym typeface="Gotham"/>
                </a:rPr>
                <a:t>8(B)</a:t>
              </a:r>
              <a:endParaRPr lang="en-US" sz="2400" b="1" dirty="0">
                <a:solidFill>
                  <a:srgbClr val="002060"/>
                </a:solidFill>
                <a:latin typeface="Gotham"/>
                <a:ea typeface="Gotham"/>
                <a:cs typeface="Gotham"/>
                <a:sym typeface="Gotham"/>
              </a:endParaRP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endParaRPr lang="en-US" sz="1700">
                <a:solidFill>
                  <a:srgbClr val="191919"/>
                </a:solidFill>
                <a:latin typeface="Gotham"/>
                <a:ea typeface="Gotham"/>
                <a:cs typeface="Gotham"/>
                <a:sym typeface="Gotham"/>
              </a:endParaRP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endParaRPr lang="en-US" sz="1700">
                <a:solidFill>
                  <a:srgbClr val="191919"/>
                </a:solidFill>
                <a:latin typeface="Gotham"/>
                <a:ea typeface="Gotham"/>
                <a:cs typeface="Gotham"/>
                <a:sym typeface="Gotham"/>
              </a:endParaRP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endParaRPr lang="en-US" sz="1700">
                <a:solidFill>
                  <a:srgbClr val="191919"/>
                </a:solidFill>
                <a:latin typeface="Gotham"/>
                <a:ea typeface="Gotham"/>
                <a:cs typeface="Gotham"/>
                <a:sym typeface="Gotham"/>
              </a:endParaRP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endParaRPr lang="en-US" sz="1700">
                <a:solidFill>
                  <a:srgbClr val="191919"/>
                </a:solidFill>
                <a:latin typeface="Gotham"/>
                <a:ea typeface="Gotham"/>
                <a:cs typeface="Gotham"/>
                <a:sym typeface="Gotham"/>
              </a:endParaRP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endParaRPr lang="en-US" sz="1700">
                <a:solidFill>
                  <a:srgbClr val="191919"/>
                </a:solidFill>
                <a:latin typeface="Gotham"/>
                <a:ea typeface="Gotham"/>
                <a:cs typeface="Gotham"/>
                <a:sym typeface="Gotham"/>
              </a:endParaRP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endParaRPr lang="en-US" sz="1700">
                <a:solidFill>
                  <a:srgbClr val="191919"/>
                </a:solidFill>
                <a:latin typeface="Gotham"/>
                <a:ea typeface="Gotham"/>
                <a:cs typeface="Gotham"/>
                <a:sym typeface="Gotham"/>
              </a:endParaRP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endParaRPr lang="en-US" sz="1700">
                <a:solidFill>
                  <a:srgbClr val="191919"/>
                </a:solidFill>
                <a:latin typeface="Gotham"/>
                <a:ea typeface="Gotham"/>
                <a:cs typeface="Gotham"/>
                <a:sym typeface="Gotham"/>
              </a:endParaRP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endParaRPr lang="en-US" sz="1700">
                <a:solidFill>
                  <a:srgbClr val="191919"/>
                </a:solidFill>
                <a:latin typeface="Gotham"/>
                <a:ea typeface="Gotham"/>
                <a:cs typeface="Gotham"/>
                <a:sym typeface="Gotham"/>
              </a:endParaRPr>
            </a:p>
          </p:txBody>
        </p:sp>
      </p:grpSp>
      <p:sp>
        <p:nvSpPr>
          <p:cNvPr id="34" name="Freeform 34"/>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grpSp>
        <p:nvGrpSpPr>
          <p:cNvPr id="35" name="Group 35"/>
          <p:cNvGrpSpPr/>
          <p:nvPr/>
        </p:nvGrpSpPr>
        <p:grpSpPr>
          <a:xfrm>
            <a:off x="17170670" y="-178579"/>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60"/>
                </a:lnSpc>
              </a:pPr>
            </a:p>
          </p:txBody>
        </p:sp>
      </p:grpSp>
      <p:sp>
        <p:nvSpPr>
          <p:cNvPr id="43" name="TextBox 42"/>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p:cNvSpPr txBox="1"/>
          <p:nvPr/>
        </p:nvSpPr>
        <p:spPr>
          <a:xfrm>
            <a:off x="2209800" y="1638300"/>
            <a:ext cx="15082325" cy="4832092"/>
          </a:xfrm>
          <a:prstGeom prst="rect">
            <a:avLst/>
          </a:prstGeom>
          <a:noFill/>
        </p:spPr>
        <p:txBody>
          <a:bodyPr wrap="square" rtlCol="0">
            <a:spAutoFit/>
          </a:bodyPr>
          <a:lstStyle/>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2" name="Picture 1"/>
          <p:cNvPicPr>
            <a:picLocks noChangeAspect="1"/>
          </p:cNvPicPr>
          <p:nvPr/>
        </p:nvPicPr>
        <p:blipFill>
          <a:blip r:embed="rId3"/>
          <a:stretch>
            <a:fillRect/>
          </a:stretch>
        </p:blipFill>
        <p:spPr>
          <a:xfrm>
            <a:off x="1851025" y="1485900"/>
            <a:ext cx="14912975" cy="73152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5" name="Group 5"/>
          <p:cNvGrpSpPr/>
          <p:nvPr/>
        </p:nvGrpSpPr>
        <p:grpSpPr>
          <a:xfrm>
            <a:off x="735588" y="7321525"/>
            <a:ext cx="992463" cy="992463"/>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7" name="TextBox 7"/>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700">
                  <a:solidFill>
                    <a:srgbClr val="FFFEFE"/>
                  </a:solidFill>
                  <a:latin typeface="Gotham"/>
                  <a:ea typeface="Gotham"/>
                  <a:cs typeface="Gotham"/>
                  <a:sym typeface="Gotham"/>
                </a:rPr>
                <a:t>9</a:t>
              </a:r>
              <a:endParaRPr lang="en-US" sz="2700">
                <a:solidFill>
                  <a:srgbClr val="FFFEFE"/>
                </a:solidFill>
                <a:latin typeface="Gotham"/>
                <a:ea typeface="Gotham"/>
                <a:cs typeface="Gotham"/>
                <a:sym typeface="Gotham"/>
              </a:endParaRPr>
            </a:p>
          </p:txBody>
        </p:sp>
      </p:grpSp>
      <p:grpSp>
        <p:nvGrpSpPr>
          <p:cNvPr id="8" name="Group 8"/>
          <p:cNvGrpSpPr/>
          <p:nvPr/>
        </p:nvGrpSpPr>
        <p:grpSpPr>
          <a:xfrm>
            <a:off x="977741" y="3315742"/>
            <a:ext cx="508158" cy="543805"/>
            <a:chOff x="0" y="0"/>
            <a:chExt cx="812800" cy="869819"/>
          </a:xfrm>
        </p:grpSpPr>
        <p:sp>
          <p:nvSpPr>
            <p:cNvPr id="9" name="Freeform 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 name="TextBox 1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endParaRPr lang="en-US" sz="1700">
                <a:solidFill>
                  <a:srgbClr val="191919"/>
                </a:solidFill>
                <a:latin typeface="Gotham"/>
                <a:ea typeface="Gotham"/>
                <a:cs typeface="Gotham"/>
                <a:sym typeface="Gotham"/>
              </a:endParaRPr>
            </a:p>
          </p:txBody>
        </p:sp>
      </p:grpSp>
      <p:grpSp>
        <p:nvGrpSpPr>
          <p:cNvPr id="11" name="Group 11"/>
          <p:cNvGrpSpPr/>
          <p:nvPr/>
        </p:nvGrpSpPr>
        <p:grpSpPr>
          <a:xfrm>
            <a:off x="977741" y="1982349"/>
            <a:ext cx="508158" cy="543805"/>
            <a:chOff x="0" y="0"/>
            <a:chExt cx="812800" cy="869819"/>
          </a:xfrm>
        </p:grpSpPr>
        <p:sp>
          <p:nvSpPr>
            <p:cNvPr id="12" name="Freeform 1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3" name="TextBox 1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endParaRPr lang="en-US" sz="1700">
                <a:solidFill>
                  <a:srgbClr val="191919"/>
                </a:solidFill>
                <a:latin typeface="Gotham"/>
                <a:ea typeface="Gotham"/>
                <a:cs typeface="Gotham"/>
                <a:sym typeface="Gotham"/>
              </a:endParaRPr>
            </a:p>
          </p:txBody>
        </p:sp>
      </p:grpSp>
      <p:grpSp>
        <p:nvGrpSpPr>
          <p:cNvPr id="14" name="Group 14"/>
          <p:cNvGrpSpPr/>
          <p:nvPr/>
        </p:nvGrpSpPr>
        <p:grpSpPr>
          <a:xfrm>
            <a:off x="977741" y="3983373"/>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endParaRPr lang="en-US" sz="1700">
                <a:solidFill>
                  <a:srgbClr val="191919"/>
                </a:solidFill>
                <a:latin typeface="Gotham"/>
                <a:ea typeface="Gotham"/>
                <a:cs typeface="Gotham"/>
                <a:sym typeface="Gotham"/>
              </a:endParaRPr>
            </a:p>
          </p:txBody>
        </p:sp>
      </p:grpSp>
      <p:grpSp>
        <p:nvGrpSpPr>
          <p:cNvPr id="17" name="Group 17"/>
          <p:cNvGrpSpPr/>
          <p:nvPr/>
        </p:nvGrpSpPr>
        <p:grpSpPr>
          <a:xfrm>
            <a:off x="977741" y="2648112"/>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endParaRPr lang="en-US" sz="1700">
                <a:solidFill>
                  <a:srgbClr val="191919"/>
                </a:solidFill>
                <a:latin typeface="Gotham"/>
                <a:ea typeface="Gotham"/>
                <a:cs typeface="Gotham"/>
                <a:sym typeface="Gotham"/>
              </a:endParaRPr>
            </a:p>
          </p:txBody>
        </p:sp>
      </p:grpSp>
      <p:grpSp>
        <p:nvGrpSpPr>
          <p:cNvPr id="20" name="Group 20"/>
          <p:cNvGrpSpPr/>
          <p:nvPr/>
        </p:nvGrpSpPr>
        <p:grpSpPr>
          <a:xfrm>
            <a:off x="977741" y="5318634"/>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endParaRPr lang="en-US" sz="1700">
                <a:solidFill>
                  <a:srgbClr val="191919"/>
                </a:solidFill>
                <a:latin typeface="Gotham"/>
                <a:ea typeface="Gotham"/>
                <a:cs typeface="Gotham"/>
                <a:sym typeface="Gotham"/>
              </a:endParaRPr>
            </a:p>
          </p:txBody>
        </p:sp>
      </p:grpSp>
      <p:grpSp>
        <p:nvGrpSpPr>
          <p:cNvPr id="23" name="Group 23"/>
          <p:cNvGrpSpPr/>
          <p:nvPr/>
        </p:nvGrpSpPr>
        <p:grpSpPr>
          <a:xfrm>
            <a:off x="977741" y="465100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endParaRPr lang="en-US" sz="1700">
                <a:solidFill>
                  <a:srgbClr val="191919"/>
                </a:solidFill>
                <a:latin typeface="Gotham"/>
                <a:ea typeface="Gotham"/>
                <a:cs typeface="Gotham"/>
                <a:sym typeface="Gotham"/>
              </a:endParaRPr>
            </a:p>
          </p:txBody>
        </p:sp>
      </p:grpSp>
      <p:grpSp>
        <p:nvGrpSpPr>
          <p:cNvPr id="26" name="Group 26"/>
          <p:cNvGrpSpPr/>
          <p:nvPr/>
        </p:nvGrpSpPr>
        <p:grpSpPr>
          <a:xfrm>
            <a:off x="977741" y="5986264"/>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endParaRPr lang="en-US" sz="1700">
                <a:solidFill>
                  <a:srgbClr val="191919"/>
                </a:solidFill>
                <a:latin typeface="Gotham"/>
                <a:ea typeface="Gotham"/>
                <a:cs typeface="Gotham"/>
                <a:sym typeface="Gotham"/>
              </a:endParaRPr>
            </a:p>
          </p:txBody>
        </p:sp>
      </p:grpSp>
      <p:grpSp>
        <p:nvGrpSpPr>
          <p:cNvPr id="29" name="Group 29"/>
          <p:cNvGrpSpPr/>
          <p:nvPr/>
        </p:nvGrpSpPr>
        <p:grpSpPr>
          <a:xfrm>
            <a:off x="977741" y="6653894"/>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endParaRPr lang="en-US" sz="1700">
                <a:solidFill>
                  <a:srgbClr val="191919"/>
                </a:solidFill>
                <a:latin typeface="Gotham"/>
                <a:ea typeface="Gotham"/>
                <a:cs typeface="Gotham"/>
                <a:sym typeface="Gotham"/>
              </a:endParaRPr>
            </a:p>
          </p:txBody>
        </p:sp>
      </p:grpSp>
      <p:sp>
        <p:nvSpPr>
          <p:cNvPr id="32" name="Freeform 32"/>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grpSp>
        <p:nvGrpSpPr>
          <p:cNvPr id="44" name="Group 44"/>
          <p:cNvGrpSpPr/>
          <p:nvPr/>
        </p:nvGrpSpPr>
        <p:grpSpPr>
          <a:xfrm>
            <a:off x="16786360" y="-353712"/>
            <a:ext cx="10994424" cy="10994424"/>
            <a:chOff x="0" y="0"/>
            <a:chExt cx="812800" cy="812800"/>
          </a:xfrm>
        </p:grpSpPr>
        <p:sp>
          <p:nvSpPr>
            <p:cNvPr id="45" name="Freeform 4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19125" cap="sq">
              <a:solidFill>
                <a:srgbClr val="FD6220">
                  <a:alpha val="11765"/>
                </a:srgbClr>
              </a:solidFill>
              <a:prstDash val="solid"/>
              <a:miter/>
            </a:ln>
          </p:spPr>
        </p:sp>
        <p:sp>
          <p:nvSpPr>
            <p:cNvPr id="46" name="TextBox 46"/>
            <p:cNvSpPr txBox="1"/>
            <p:nvPr/>
          </p:nvSpPr>
          <p:spPr>
            <a:xfrm>
              <a:off x="76200" y="47625"/>
              <a:ext cx="660400" cy="688975"/>
            </a:xfrm>
            <a:prstGeom prst="rect">
              <a:avLst/>
            </a:prstGeom>
          </p:spPr>
          <p:txBody>
            <a:bodyPr lIns="50800" tIns="50800" rIns="50800" bIns="50800" rtlCol="0" anchor="ctr"/>
            <a:lstStyle/>
            <a:p>
              <a:pPr algn="ctr">
                <a:lnSpc>
                  <a:spcPts val="2660"/>
                </a:lnSpc>
              </a:pPr>
            </a:p>
          </p:txBody>
        </p:sp>
      </p:grpSp>
      <p:sp>
        <p:nvSpPr>
          <p:cNvPr id="2" name="TextBox 1"/>
          <p:cNvSpPr txBox="1"/>
          <p:nvPr/>
        </p:nvSpPr>
        <p:spPr>
          <a:xfrm>
            <a:off x="190500" y="290493"/>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ADVANTAGES &amp; LIMITATIONS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 name="TextBox 3"/>
          <p:cNvSpPr txBox="1"/>
          <p:nvPr/>
        </p:nvSpPr>
        <p:spPr>
          <a:xfrm>
            <a:off x="1911199" y="2171700"/>
            <a:ext cx="16681601" cy="4339650"/>
          </a:xfrm>
          <a:prstGeom prst="rect">
            <a:avLst/>
          </a:prstGeom>
          <a:noFill/>
        </p:spPr>
        <p:txBody>
          <a:bodyPr wrap="square">
            <a:spAutoFit/>
          </a:bodyPr>
          <a:lstStyle/>
          <a:p>
            <a:r>
              <a:rPr lang="en-US" sz="2400" b="1" dirty="0">
                <a:latin typeface="Times New Roman" panose="02020603050405020304" pitchFamily="18" charset="0"/>
                <a:cs typeface="Times New Roman" panose="02020603050405020304" pitchFamily="18" charset="0"/>
              </a:rPr>
              <a:t>Advantages:</a:t>
            </a:r>
            <a:endParaRPr lang="en-US" sz="2400" b="1"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Students can register for events online without manual work</a:t>
            </a:r>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All events (date, time, venue) available in one place</a:t>
            </a:r>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No need for manual entry or paper forms</a:t>
            </a:r>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Admin can track participants and manage events efficiently</a:t>
            </a:r>
            <a:endParaRPr lang="en-US" sz="2400" dirty="0">
              <a:latin typeface="Times New Roman" panose="02020603050405020304" pitchFamily="18" charset="0"/>
              <a:cs typeface="Times New Roman" panose="02020603050405020304" pitchFamily="18" charset="0"/>
            </a:endParaRPr>
          </a:p>
          <a:p>
            <a:endParaRPr lang="en-US" dirty="0"/>
          </a:p>
          <a:p>
            <a:endParaRPr lang="en-US" dirty="0"/>
          </a:p>
          <a:p>
            <a:r>
              <a:rPr lang="en-US" sz="2400" b="1" dirty="0">
                <a:latin typeface="Times New Roman" panose="02020603050405020304" pitchFamily="18" charset="0"/>
                <a:cs typeface="Times New Roman" panose="02020603050405020304" pitchFamily="18" charset="0"/>
              </a:rPr>
              <a:t>Limitations:</a:t>
            </a:r>
            <a:endParaRPr lang="en-US" sz="2400" b="1"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Requires internet to access and register</a:t>
            </a:r>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Server or system errors may affect usage</a:t>
            </a:r>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Development and maintenance require cost</a:t>
            </a:r>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Data privacy risks if not properly secured</a:t>
            </a:r>
            <a:endParaRPr lang="en-US"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32" name="Freeform 32"/>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43" name="TextBox 43"/>
          <p:cNvSpPr txBox="1"/>
          <p:nvPr/>
        </p:nvSpPr>
        <p:spPr>
          <a:xfrm>
            <a:off x="3200400" y="4486172"/>
            <a:ext cx="11159653" cy="1314655"/>
          </a:xfrm>
          <a:prstGeom prst="rect">
            <a:avLst/>
          </a:prstGeom>
        </p:spPr>
        <p:txBody>
          <a:bodyPr wrap="square" lIns="0" tIns="0" rIns="0" bIns="0" rtlCol="0" anchor="t">
            <a:spAutoFit/>
          </a:bodyPr>
          <a:lstStyle/>
          <a:p>
            <a:pPr algn="ctr">
              <a:lnSpc>
                <a:spcPts val="10150"/>
              </a:lnSpc>
            </a:pPr>
            <a:r>
              <a:rPr lang="en-US" sz="11155" b="1" i="1" dirty="0">
                <a:solidFill>
                  <a:srgbClr val="191919"/>
                </a:solidFill>
                <a:latin typeface="Gotham Bold Italics" panose="02000000000000000000"/>
                <a:ea typeface="Gotham Bold Italics" panose="02000000000000000000"/>
                <a:cs typeface="Gotham Bold Italics" panose="02000000000000000000"/>
                <a:sym typeface="Gotham Bold Italics" panose="02000000000000000000"/>
              </a:rPr>
              <a:t>Thank you</a:t>
            </a:r>
            <a:endParaRPr lang="en-US" sz="11155" b="1" i="1" dirty="0">
              <a:solidFill>
                <a:srgbClr val="191919"/>
              </a:solidFill>
              <a:latin typeface="Gotham Bold Italics" panose="02000000000000000000"/>
              <a:ea typeface="Gotham Bold Italics" panose="02000000000000000000"/>
              <a:cs typeface="Gotham Bold Italics" panose="02000000000000000000"/>
              <a:sym typeface="Gotham Bold Italics" panose="02000000000000000000"/>
            </a:endParaRPr>
          </a:p>
        </p:txBody>
      </p:sp>
      <p:grpSp>
        <p:nvGrpSpPr>
          <p:cNvPr id="44" name="Group 44"/>
          <p:cNvGrpSpPr/>
          <p:nvPr/>
        </p:nvGrpSpPr>
        <p:grpSpPr>
          <a:xfrm>
            <a:off x="16786360" y="-353712"/>
            <a:ext cx="10994424" cy="10994424"/>
            <a:chOff x="0" y="0"/>
            <a:chExt cx="812800" cy="812800"/>
          </a:xfrm>
        </p:grpSpPr>
        <p:sp>
          <p:nvSpPr>
            <p:cNvPr id="45" name="Freeform 4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19125" cap="sq">
              <a:solidFill>
                <a:srgbClr val="FD6220">
                  <a:alpha val="11765"/>
                </a:srgbClr>
              </a:solidFill>
              <a:prstDash val="solid"/>
              <a:miter/>
            </a:ln>
          </p:spPr>
        </p:sp>
        <p:sp>
          <p:nvSpPr>
            <p:cNvPr id="46" name="TextBox 46"/>
            <p:cNvSpPr txBox="1"/>
            <p:nvPr/>
          </p:nvSpPr>
          <p:spPr>
            <a:xfrm>
              <a:off x="76200" y="47625"/>
              <a:ext cx="660400" cy="688975"/>
            </a:xfrm>
            <a:prstGeom prst="rect">
              <a:avLst/>
            </a:prstGeom>
          </p:spPr>
          <p:txBody>
            <a:bodyPr lIns="50800" tIns="50800" rIns="50800" bIns="50800" rtlCol="0" anchor="ctr"/>
            <a:lstStyle/>
            <a:p>
              <a:pPr algn="ctr">
                <a:lnSpc>
                  <a:spcPts val="2660"/>
                </a:lnSpc>
              </a:p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3652</Words>
  <Application>WPS Presentation</Application>
  <PresentationFormat>Custom</PresentationFormat>
  <Paragraphs>430</Paragraphs>
  <Slides>14</Slides>
  <Notes>0</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14</vt:i4>
      </vt:variant>
    </vt:vector>
  </HeadingPairs>
  <TitlesOfParts>
    <vt:vector size="26" baseType="lpstr">
      <vt:lpstr>Arial</vt:lpstr>
      <vt:lpstr>SimSun</vt:lpstr>
      <vt:lpstr>Wingdings</vt:lpstr>
      <vt:lpstr>Cambria</vt:lpstr>
      <vt:lpstr>Bookman Old Style</vt:lpstr>
      <vt:lpstr>Times New Roman</vt:lpstr>
      <vt:lpstr>Gotham</vt:lpstr>
      <vt:lpstr>Gotham Bold Italics</vt:lpstr>
      <vt:lpstr>Calibri</vt:lpstr>
      <vt:lpstr>Microsoft YaHei</vt:lpstr>
      <vt:lpstr>Arial Unicode MS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White and Orange Simple Portfolio Presentation</dc:title>
  <dc:creator>preethi santhapuri</dc:creator>
  <cp:lastModifiedBy>Nitish Saidath</cp:lastModifiedBy>
  <cp:revision>13</cp:revision>
  <dcterms:created xsi:type="dcterms:W3CDTF">2006-08-16T00:00:00Z</dcterms:created>
  <dcterms:modified xsi:type="dcterms:W3CDTF">2026-04-20T05:19:28Z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A44171E427B04792B15F4F3430D2F990_13</vt:lpwstr>
  </property>
  <property fmtid="{D5CDD505-2E9C-101B-9397-08002B2CF9AE}" pid="3" name="KSOProductBuildVer">
    <vt:lpwstr>1033-12.1.0.25242</vt:lpwstr>
  </property>
</Properties>
</file>